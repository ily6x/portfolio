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7814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Ilyès Tizaoui, étudiant en BTS SIO option SLAM à H3 Hitema. Je vais vous présenter ma veille technologique sur le thème de l'XDR — Extended Detection and Response — menée de février à juin 2026 dans le cadre de la compétence C6.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L'XDR est une évolution du simple EDR. Là où l'EDR ne surveille que les endpoints (postes, serveurs), l'XDR agrège la télémétrie de toutes les couches : réseau, cloud, identités, applications. Résultat : une seule console, des alertes moins nombreuses mais plus pertinentes, et un temps de détection (MTTD) réduit. Source : LeMagIT, mars 2026.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niveaux de protection. L'EDR couvre uniquement les endpoints — adapté aux PME. L'XDR étend cette visibilité à toutes les couches. Le MDR c'est l'XDR géré par un SOC externalisé, idéal sans équipe sécurité interne.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faits marquants de 2026. Kaspersky observe une baisse des incidents là où l'XDR est déployé. WEX a divisé par deux son nombre d'outils en adoptant CrowdStrike Falcon XDR. Sophos est Leader Gartner — l'XDR devient critère obligatoire. Et Tehtris, acteur XDR souverain français, est en redressement judiciaire — question de dépendance aux géants américains.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tant que développeur SLAM : logs structurés en JSON exploitables par un XDR, OWASP pour bloquer les failles avant détection réseau, hébergeur EU pour RGPD sur la télémétrie, et APIs REST pour intégrer la sécurité dès la conception.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l'XDR est le nouveau standard de détection des menaces. Le marché se consolide autour des géants américains, fragilisant les acteurs souverains comme Tehtris. Pour moi développeur SLAM : logs structurés, OWASP, hébergement conforme et APIs de sécurité dès la conception. Merci.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80F"/>
        </a:solidFill>
        <a:effectLst/>
      </p:bgPr>
    </p:bg>
    <p:spTree>
      <p:nvGrpSpPr>
        <p:cNvPr id="1" name=""/>
        <p:cNvGrpSpPr/>
        <p:nvPr/>
      </p:nvGrpSpPr>
      <p:grpSpPr>
        <a:xfrm>
          <a:off x="0" y="0"/>
          <a:ext cx="0" cy="0"/>
          <a:chOff x="0" y="0"/>
          <a:chExt cx="0" cy="0"/>
        </a:xfrm>
      </p:grpSpPr>
      <p:sp>
        <p:nvSpPr>
          <p:cNvPr id="2" name="Shape 0"/>
          <p:cNvSpPr/>
          <p:nvPr/>
        </p:nvSpPr>
        <p:spPr>
          <a:xfrm>
            <a:off x="4846320" y="320040"/>
            <a:ext cx="64008" cy="64008"/>
          </a:xfrm>
          <a:prstGeom prst="ellipse">
            <a:avLst/>
          </a:prstGeom>
          <a:solidFill>
            <a:srgbClr val="0D2233"/>
          </a:solidFill>
          <a:ln w="12700">
            <a:solidFill>
              <a:srgbClr val="0D2233"/>
            </a:solidFill>
            <a:prstDash val="solid"/>
          </a:ln>
        </p:spPr>
        <p:txBody>
          <a:bodyPr/>
          <a:lstStyle/>
          <a:p>
            <a:endParaRPr lang="fr-FR"/>
          </a:p>
        </p:txBody>
      </p:sp>
      <p:sp>
        <p:nvSpPr>
          <p:cNvPr id="3" name="Shape 1"/>
          <p:cNvSpPr/>
          <p:nvPr/>
        </p:nvSpPr>
        <p:spPr>
          <a:xfrm>
            <a:off x="5321808" y="320040"/>
            <a:ext cx="64008" cy="64008"/>
          </a:xfrm>
          <a:prstGeom prst="ellipse">
            <a:avLst/>
          </a:prstGeom>
          <a:solidFill>
            <a:srgbClr val="0D2233"/>
          </a:solidFill>
          <a:ln w="12700">
            <a:solidFill>
              <a:srgbClr val="0D2233"/>
            </a:solidFill>
            <a:prstDash val="solid"/>
          </a:ln>
        </p:spPr>
        <p:txBody>
          <a:bodyPr/>
          <a:lstStyle/>
          <a:p>
            <a:endParaRPr lang="fr-FR"/>
          </a:p>
        </p:txBody>
      </p:sp>
      <p:sp>
        <p:nvSpPr>
          <p:cNvPr id="4" name="Shape 2"/>
          <p:cNvSpPr/>
          <p:nvPr/>
        </p:nvSpPr>
        <p:spPr>
          <a:xfrm>
            <a:off x="5797296" y="320040"/>
            <a:ext cx="64008" cy="64008"/>
          </a:xfrm>
          <a:prstGeom prst="ellipse">
            <a:avLst/>
          </a:prstGeom>
          <a:solidFill>
            <a:srgbClr val="0D2233"/>
          </a:solidFill>
          <a:ln w="12700">
            <a:solidFill>
              <a:srgbClr val="0D2233"/>
            </a:solidFill>
            <a:prstDash val="solid"/>
          </a:ln>
        </p:spPr>
        <p:txBody>
          <a:bodyPr/>
          <a:lstStyle/>
          <a:p>
            <a:endParaRPr lang="fr-FR"/>
          </a:p>
        </p:txBody>
      </p:sp>
      <p:sp>
        <p:nvSpPr>
          <p:cNvPr id="5" name="Shape 3"/>
          <p:cNvSpPr/>
          <p:nvPr/>
        </p:nvSpPr>
        <p:spPr>
          <a:xfrm>
            <a:off x="6272784" y="320040"/>
            <a:ext cx="64008" cy="64008"/>
          </a:xfrm>
          <a:prstGeom prst="ellipse">
            <a:avLst/>
          </a:prstGeom>
          <a:solidFill>
            <a:srgbClr val="0D2233"/>
          </a:solidFill>
          <a:ln w="12700">
            <a:solidFill>
              <a:srgbClr val="0D2233"/>
            </a:solidFill>
            <a:prstDash val="solid"/>
          </a:ln>
        </p:spPr>
        <p:txBody>
          <a:bodyPr/>
          <a:lstStyle/>
          <a:p>
            <a:endParaRPr lang="fr-FR"/>
          </a:p>
        </p:txBody>
      </p:sp>
      <p:sp>
        <p:nvSpPr>
          <p:cNvPr id="6" name="Shape 4"/>
          <p:cNvSpPr/>
          <p:nvPr/>
        </p:nvSpPr>
        <p:spPr>
          <a:xfrm>
            <a:off x="6748272" y="320040"/>
            <a:ext cx="64008" cy="64008"/>
          </a:xfrm>
          <a:prstGeom prst="ellipse">
            <a:avLst/>
          </a:prstGeom>
          <a:solidFill>
            <a:srgbClr val="0D2233"/>
          </a:solidFill>
          <a:ln w="12700">
            <a:solidFill>
              <a:srgbClr val="0D2233"/>
            </a:solidFill>
            <a:prstDash val="solid"/>
          </a:ln>
        </p:spPr>
        <p:txBody>
          <a:bodyPr/>
          <a:lstStyle/>
          <a:p>
            <a:endParaRPr lang="fr-FR"/>
          </a:p>
        </p:txBody>
      </p:sp>
      <p:sp>
        <p:nvSpPr>
          <p:cNvPr id="7" name="Shape 5"/>
          <p:cNvSpPr/>
          <p:nvPr/>
        </p:nvSpPr>
        <p:spPr>
          <a:xfrm>
            <a:off x="7223760" y="320040"/>
            <a:ext cx="64008" cy="64008"/>
          </a:xfrm>
          <a:prstGeom prst="ellipse">
            <a:avLst/>
          </a:prstGeom>
          <a:solidFill>
            <a:srgbClr val="0D2233"/>
          </a:solidFill>
          <a:ln w="12700">
            <a:solidFill>
              <a:srgbClr val="0D2233"/>
            </a:solidFill>
            <a:prstDash val="solid"/>
          </a:ln>
        </p:spPr>
        <p:txBody>
          <a:bodyPr/>
          <a:lstStyle/>
          <a:p>
            <a:endParaRPr lang="fr-FR"/>
          </a:p>
        </p:txBody>
      </p:sp>
      <p:sp>
        <p:nvSpPr>
          <p:cNvPr id="8" name="Shape 6"/>
          <p:cNvSpPr/>
          <p:nvPr/>
        </p:nvSpPr>
        <p:spPr>
          <a:xfrm>
            <a:off x="7699248" y="320040"/>
            <a:ext cx="64008" cy="64008"/>
          </a:xfrm>
          <a:prstGeom prst="ellipse">
            <a:avLst/>
          </a:prstGeom>
          <a:solidFill>
            <a:srgbClr val="0D2233"/>
          </a:solidFill>
          <a:ln w="12700">
            <a:solidFill>
              <a:srgbClr val="0D2233"/>
            </a:solidFill>
            <a:prstDash val="solid"/>
          </a:ln>
        </p:spPr>
        <p:txBody>
          <a:bodyPr/>
          <a:lstStyle/>
          <a:p>
            <a:endParaRPr lang="fr-FR"/>
          </a:p>
        </p:txBody>
      </p:sp>
      <p:sp>
        <p:nvSpPr>
          <p:cNvPr id="9" name="Shape 7"/>
          <p:cNvSpPr/>
          <p:nvPr/>
        </p:nvSpPr>
        <p:spPr>
          <a:xfrm>
            <a:off x="8174736" y="320040"/>
            <a:ext cx="64008" cy="64008"/>
          </a:xfrm>
          <a:prstGeom prst="ellipse">
            <a:avLst/>
          </a:prstGeom>
          <a:solidFill>
            <a:srgbClr val="0D2233"/>
          </a:solidFill>
          <a:ln w="12700">
            <a:solidFill>
              <a:srgbClr val="0D2233"/>
            </a:solidFill>
            <a:prstDash val="solid"/>
          </a:ln>
        </p:spPr>
        <p:txBody>
          <a:bodyPr/>
          <a:lstStyle/>
          <a:p>
            <a:endParaRPr lang="fr-FR"/>
          </a:p>
        </p:txBody>
      </p:sp>
      <p:sp>
        <p:nvSpPr>
          <p:cNvPr id="10" name="Shape 8"/>
          <p:cNvSpPr/>
          <p:nvPr/>
        </p:nvSpPr>
        <p:spPr>
          <a:xfrm>
            <a:off x="8650224" y="320040"/>
            <a:ext cx="64008" cy="64008"/>
          </a:xfrm>
          <a:prstGeom prst="ellipse">
            <a:avLst/>
          </a:prstGeom>
          <a:solidFill>
            <a:srgbClr val="0D2233"/>
          </a:solidFill>
          <a:ln w="12700">
            <a:solidFill>
              <a:srgbClr val="0D2233"/>
            </a:solidFill>
            <a:prstDash val="solid"/>
          </a:ln>
        </p:spPr>
        <p:txBody>
          <a:bodyPr/>
          <a:lstStyle/>
          <a:p>
            <a:endParaRPr lang="fr-FR"/>
          </a:p>
        </p:txBody>
      </p:sp>
      <p:sp>
        <p:nvSpPr>
          <p:cNvPr id="11" name="Shape 9"/>
          <p:cNvSpPr/>
          <p:nvPr/>
        </p:nvSpPr>
        <p:spPr>
          <a:xfrm>
            <a:off x="4846320" y="914400"/>
            <a:ext cx="64008" cy="64008"/>
          </a:xfrm>
          <a:prstGeom prst="ellipse">
            <a:avLst/>
          </a:prstGeom>
          <a:solidFill>
            <a:srgbClr val="0D2233"/>
          </a:solidFill>
          <a:ln w="12700">
            <a:solidFill>
              <a:srgbClr val="0D2233"/>
            </a:solidFill>
            <a:prstDash val="solid"/>
          </a:ln>
        </p:spPr>
        <p:txBody>
          <a:bodyPr/>
          <a:lstStyle/>
          <a:p>
            <a:endParaRPr lang="fr-FR"/>
          </a:p>
        </p:txBody>
      </p:sp>
      <p:sp>
        <p:nvSpPr>
          <p:cNvPr id="12" name="Shape 10"/>
          <p:cNvSpPr/>
          <p:nvPr/>
        </p:nvSpPr>
        <p:spPr>
          <a:xfrm>
            <a:off x="5321808" y="914400"/>
            <a:ext cx="64008" cy="64008"/>
          </a:xfrm>
          <a:prstGeom prst="ellipse">
            <a:avLst/>
          </a:prstGeom>
          <a:solidFill>
            <a:srgbClr val="0D2233"/>
          </a:solidFill>
          <a:ln w="12700">
            <a:solidFill>
              <a:srgbClr val="0D2233"/>
            </a:solidFill>
            <a:prstDash val="solid"/>
          </a:ln>
        </p:spPr>
        <p:txBody>
          <a:bodyPr/>
          <a:lstStyle/>
          <a:p>
            <a:endParaRPr lang="fr-FR"/>
          </a:p>
        </p:txBody>
      </p:sp>
      <p:sp>
        <p:nvSpPr>
          <p:cNvPr id="13" name="Shape 11"/>
          <p:cNvSpPr/>
          <p:nvPr/>
        </p:nvSpPr>
        <p:spPr>
          <a:xfrm>
            <a:off x="5797296" y="914400"/>
            <a:ext cx="64008" cy="64008"/>
          </a:xfrm>
          <a:prstGeom prst="ellipse">
            <a:avLst/>
          </a:prstGeom>
          <a:solidFill>
            <a:srgbClr val="0D2233"/>
          </a:solidFill>
          <a:ln w="12700">
            <a:solidFill>
              <a:srgbClr val="0D2233"/>
            </a:solidFill>
            <a:prstDash val="solid"/>
          </a:ln>
        </p:spPr>
        <p:txBody>
          <a:bodyPr/>
          <a:lstStyle/>
          <a:p>
            <a:endParaRPr lang="fr-FR"/>
          </a:p>
        </p:txBody>
      </p:sp>
      <p:sp>
        <p:nvSpPr>
          <p:cNvPr id="14" name="Shape 12"/>
          <p:cNvSpPr/>
          <p:nvPr/>
        </p:nvSpPr>
        <p:spPr>
          <a:xfrm>
            <a:off x="6272784" y="914400"/>
            <a:ext cx="64008" cy="64008"/>
          </a:xfrm>
          <a:prstGeom prst="ellipse">
            <a:avLst/>
          </a:prstGeom>
          <a:solidFill>
            <a:srgbClr val="0D2233"/>
          </a:solidFill>
          <a:ln w="12700">
            <a:solidFill>
              <a:srgbClr val="0D2233"/>
            </a:solidFill>
            <a:prstDash val="solid"/>
          </a:ln>
        </p:spPr>
        <p:txBody>
          <a:bodyPr/>
          <a:lstStyle/>
          <a:p>
            <a:endParaRPr lang="fr-FR"/>
          </a:p>
        </p:txBody>
      </p:sp>
      <p:sp>
        <p:nvSpPr>
          <p:cNvPr id="15" name="Shape 13"/>
          <p:cNvSpPr/>
          <p:nvPr/>
        </p:nvSpPr>
        <p:spPr>
          <a:xfrm>
            <a:off x="6748272" y="914400"/>
            <a:ext cx="64008" cy="64008"/>
          </a:xfrm>
          <a:prstGeom prst="ellipse">
            <a:avLst/>
          </a:prstGeom>
          <a:solidFill>
            <a:srgbClr val="0D2233"/>
          </a:solidFill>
          <a:ln w="12700">
            <a:solidFill>
              <a:srgbClr val="0D2233"/>
            </a:solidFill>
            <a:prstDash val="solid"/>
          </a:ln>
        </p:spPr>
        <p:txBody>
          <a:bodyPr/>
          <a:lstStyle/>
          <a:p>
            <a:endParaRPr lang="fr-FR"/>
          </a:p>
        </p:txBody>
      </p:sp>
      <p:sp>
        <p:nvSpPr>
          <p:cNvPr id="16" name="Shape 14"/>
          <p:cNvSpPr/>
          <p:nvPr/>
        </p:nvSpPr>
        <p:spPr>
          <a:xfrm>
            <a:off x="7223760" y="914400"/>
            <a:ext cx="64008" cy="64008"/>
          </a:xfrm>
          <a:prstGeom prst="ellipse">
            <a:avLst/>
          </a:prstGeom>
          <a:solidFill>
            <a:srgbClr val="0D2233"/>
          </a:solidFill>
          <a:ln w="12700">
            <a:solidFill>
              <a:srgbClr val="0D2233"/>
            </a:solidFill>
            <a:prstDash val="solid"/>
          </a:ln>
        </p:spPr>
        <p:txBody>
          <a:bodyPr/>
          <a:lstStyle/>
          <a:p>
            <a:endParaRPr lang="fr-FR"/>
          </a:p>
        </p:txBody>
      </p:sp>
      <p:sp>
        <p:nvSpPr>
          <p:cNvPr id="17" name="Shape 15"/>
          <p:cNvSpPr/>
          <p:nvPr/>
        </p:nvSpPr>
        <p:spPr>
          <a:xfrm>
            <a:off x="7699248" y="914400"/>
            <a:ext cx="64008" cy="64008"/>
          </a:xfrm>
          <a:prstGeom prst="ellipse">
            <a:avLst/>
          </a:prstGeom>
          <a:solidFill>
            <a:srgbClr val="0D2233"/>
          </a:solidFill>
          <a:ln w="12700">
            <a:solidFill>
              <a:srgbClr val="0D2233"/>
            </a:solidFill>
            <a:prstDash val="solid"/>
          </a:ln>
        </p:spPr>
        <p:txBody>
          <a:bodyPr/>
          <a:lstStyle/>
          <a:p>
            <a:endParaRPr lang="fr-FR"/>
          </a:p>
        </p:txBody>
      </p:sp>
      <p:sp>
        <p:nvSpPr>
          <p:cNvPr id="18" name="Shape 16"/>
          <p:cNvSpPr/>
          <p:nvPr/>
        </p:nvSpPr>
        <p:spPr>
          <a:xfrm>
            <a:off x="8174736" y="914400"/>
            <a:ext cx="64008" cy="64008"/>
          </a:xfrm>
          <a:prstGeom prst="ellipse">
            <a:avLst/>
          </a:prstGeom>
          <a:solidFill>
            <a:srgbClr val="0D2233"/>
          </a:solidFill>
          <a:ln w="12700">
            <a:solidFill>
              <a:srgbClr val="0D2233"/>
            </a:solidFill>
            <a:prstDash val="solid"/>
          </a:ln>
        </p:spPr>
        <p:txBody>
          <a:bodyPr/>
          <a:lstStyle/>
          <a:p>
            <a:endParaRPr lang="fr-FR"/>
          </a:p>
        </p:txBody>
      </p:sp>
      <p:sp>
        <p:nvSpPr>
          <p:cNvPr id="19" name="Shape 17"/>
          <p:cNvSpPr/>
          <p:nvPr/>
        </p:nvSpPr>
        <p:spPr>
          <a:xfrm>
            <a:off x="8650224" y="914400"/>
            <a:ext cx="64008" cy="64008"/>
          </a:xfrm>
          <a:prstGeom prst="ellipse">
            <a:avLst/>
          </a:prstGeom>
          <a:solidFill>
            <a:srgbClr val="0D2233"/>
          </a:solidFill>
          <a:ln w="12700">
            <a:solidFill>
              <a:srgbClr val="0D2233"/>
            </a:solidFill>
            <a:prstDash val="solid"/>
          </a:ln>
        </p:spPr>
        <p:txBody>
          <a:bodyPr/>
          <a:lstStyle/>
          <a:p>
            <a:endParaRPr lang="fr-FR"/>
          </a:p>
        </p:txBody>
      </p:sp>
      <p:sp>
        <p:nvSpPr>
          <p:cNvPr id="20" name="Shape 18"/>
          <p:cNvSpPr/>
          <p:nvPr/>
        </p:nvSpPr>
        <p:spPr>
          <a:xfrm>
            <a:off x="4846320" y="1508760"/>
            <a:ext cx="64008" cy="64008"/>
          </a:xfrm>
          <a:prstGeom prst="ellipse">
            <a:avLst/>
          </a:prstGeom>
          <a:solidFill>
            <a:srgbClr val="0D2233"/>
          </a:solidFill>
          <a:ln w="12700">
            <a:solidFill>
              <a:srgbClr val="0D2233"/>
            </a:solidFill>
            <a:prstDash val="solid"/>
          </a:ln>
        </p:spPr>
        <p:txBody>
          <a:bodyPr/>
          <a:lstStyle/>
          <a:p>
            <a:endParaRPr lang="fr-FR"/>
          </a:p>
        </p:txBody>
      </p:sp>
      <p:sp>
        <p:nvSpPr>
          <p:cNvPr id="21" name="Shape 19"/>
          <p:cNvSpPr/>
          <p:nvPr/>
        </p:nvSpPr>
        <p:spPr>
          <a:xfrm>
            <a:off x="5321808" y="1508760"/>
            <a:ext cx="64008" cy="64008"/>
          </a:xfrm>
          <a:prstGeom prst="ellipse">
            <a:avLst/>
          </a:prstGeom>
          <a:solidFill>
            <a:srgbClr val="0D2233"/>
          </a:solidFill>
          <a:ln w="12700">
            <a:solidFill>
              <a:srgbClr val="0D2233"/>
            </a:solidFill>
            <a:prstDash val="solid"/>
          </a:ln>
        </p:spPr>
        <p:txBody>
          <a:bodyPr/>
          <a:lstStyle/>
          <a:p>
            <a:endParaRPr lang="fr-FR"/>
          </a:p>
        </p:txBody>
      </p:sp>
      <p:sp>
        <p:nvSpPr>
          <p:cNvPr id="22" name="Shape 20"/>
          <p:cNvSpPr/>
          <p:nvPr/>
        </p:nvSpPr>
        <p:spPr>
          <a:xfrm>
            <a:off x="5797296" y="1508760"/>
            <a:ext cx="64008" cy="64008"/>
          </a:xfrm>
          <a:prstGeom prst="ellipse">
            <a:avLst/>
          </a:prstGeom>
          <a:solidFill>
            <a:srgbClr val="0D2233"/>
          </a:solidFill>
          <a:ln w="12700">
            <a:solidFill>
              <a:srgbClr val="0D2233"/>
            </a:solidFill>
            <a:prstDash val="solid"/>
          </a:ln>
        </p:spPr>
        <p:txBody>
          <a:bodyPr/>
          <a:lstStyle/>
          <a:p>
            <a:endParaRPr lang="fr-FR"/>
          </a:p>
        </p:txBody>
      </p:sp>
      <p:sp>
        <p:nvSpPr>
          <p:cNvPr id="23" name="Shape 21"/>
          <p:cNvSpPr/>
          <p:nvPr/>
        </p:nvSpPr>
        <p:spPr>
          <a:xfrm>
            <a:off x="6272784" y="1508760"/>
            <a:ext cx="64008" cy="64008"/>
          </a:xfrm>
          <a:prstGeom prst="ellipse">
            <a:avLst/>
          </a:prstGeom>
          <a:solidFill>
            <a:srgbClr val="0D2233"/>
          </a:solidFill>
          <a:ln w="12700">
            <a:solidFill>
              <a:srgbClr val="0D2233"/>
            </a:solidFill>
            <a:prstDash val="solid"/>
          </a:ln>
        </p:spPr>
        <p:txBody>
          <a:bodyPr/>
          <a:lstStyle/>
          <a:p>
            <a:endParaRPr lang="fr-FR"/>
          </a:p>
        </p:txBody>
      </p:sp>
      <p:sp>
        <p:nvSpPr>
          <p:cNvPr id="24" name="Shape 22"/>
          <p:cNvSpPr/>
          <p:nvPr/>
        </p:nvSpPr>
        <p:spPr>
          <a:xfrm>
            <a:off x="6748272" y="1508760"/>
            <a:ext cx="64008" cy="64008"/>
          </a:xfrm>
          <a:prstGeom prst="ellipse">
            <a:avLst/>
          </a:prstGeom>
          <a:solidFill>
            <a:srgbClr val="0D2233"/>
          </a:solidFill>
          <a:ln w="12700">
            <a:solidFill>
              <a:srgbClr val="0D2233"/>
            </a:solidFill>
            <a:prstDash val="solid"/>
          </a:ln>
        </p:spPr>
        <p:txBody>
          <a:bodyPr/>
          <a:lstStyle/>
          <a:p>
            <a:endParaRPr lang="fr-FR"/>
          </a:p>
        </p:txBody>
      </p:sp>
      <p:sp>
        <p:nvSpPr>
          <p:cNvPr id="25" name="Shape 23"/>
          <p:cNvSpPr/>
          <p:nvPr/>
        </p:nvSpPr>
        <p:spPr>
          <a:xfrm>
            <a:off x="7223760" y="1508760"/>
            <a:ext cx="64008" cy="64008"/>
          </a:xfrm>
          <a:prstGeom prst="ellipse">
            <a:avLst/>
          </a:prstGeom>
          <a:solidFill>
            <a:srgbClr val="0D2233"/>
          </a:solidFill>
          <a:ln w="12700">
            <a:solidFill>
              <a:srgbClr val="0D2233"/>
            </a:solidFill>
            <a:prstDash val="solid"/>
          </a:ln>
        </p:spPr>
        <p:txBody>
          <a:bodyPr/>
          <a:lstStyle/>
          <a:p>
            <a:endParaRPr lang="fr-FR"/>
          </a:p>
        </p:txBody>
      </p:sp>
      <p:sp>
        <p:nvSpPr>
          <p:cNvPr id="26" name="Shape 24"/>
          <p:cNvSpPr/>
          <p:nvPr/>
        </p:nvSpPr>
        <p:spPr>
          <a:xfrm>
            <a:off x="7699248" y="1508760"/>
            <a:ext cx="64008" cy="64008"/>
          </a:xfrm>
          <a:prstGeom prst="ellipse">
            <a:avLst/>
          </a:prstGeom>
          <a:solidFill>
            <a:srgbClr val="0D2233"/>
          </a:solidFill>
          <a:ln w="12700">
            <a:solidFill>
              <a:srgbClr val="0D2233"/>
            </a:solidFill>
            <a:prstDash val="solid"/>
          </a:ln>
        </p:spPr>
        <p:txBody>
          <a:bodyPr/>
          <a:lstStyle/>
          <a:p>
            <a:endParaRPr lang="fr-FR"/>
          </a:p>
        </p:txBody>
      </p:sp>
      <p:sp>
        <p:nvSpPr>
          <p:cNvPr id="27" name="Shape 25"/>
          <p:cNvSpPr/>
          <p:nvPr/>
        </p:nvSpPr>
        <p:spPr>
          <a:xfrm>
            <a:off x="8174736" y="1508760"/>
            <a:ext cx="64008" cy="64008"/>
          </a:xfrm>
          <a:prstGeom prst="ellipse">
            <a:avLst/>
          </a:prstGeom>
          <a:solidFill>
            <a:srgbClr val="0D2233"/>
          </a:solidFill>
          <a:ln w="12700">
            <a:solidFill>
              <a:srgbClr val="0D2233"/>
            </a:solidFill>
            <a:prstDash val="solid"/>
          </a:ln>
        </p:spPr>
        <p:txBody>
          <a:bodyPr/>
          <a:lstStyle/>
          <a:p>
            <a:endParaRPr lang="fr-FR"/>
          </a:p>
        </p:txBody>
      </p:sp>
      <p:sp>
        <p:nvSpPr>
          <p:cNvPr id="28" name="Shape 26"/>
          <p:cNvSpPr/>
          <p:nvPr/>
        </p:nvSpPr>
        <p:spPr>
          <a:xfrm>
            <a:off x="8650224" y="1508760"/>
            <a:ext cx="64008" cy="64008"/>
          </a:xfrm>
          <a:prstGeom prst="ellipse">
            <a:avLst/>
          </a:prstGeom>
          <a:solidFill>
            <a:srgbClr val="0D2233"/>
          </a:solidFill>
          <a:ln w="12700">
            <a:solidFill>
              <a:srgbClr val="0D2233"/>
            </a:solidFill>
            <a:prstDash val="solid"/>
          </a:ln>
        </p:spPr>
        <p:txBody>
          <a:bodyPr/>
          <a:lstStyle/>
          <a:p>
            <a:endParaRPr lang="fr-FR"/>
          </a:p>
        </p:txBody>
      </p:sp>
      <p:sp>
        <p:nvSpPr>
          <p:cNvPr id="29" name="Shape 27"/>
          <p:cNvSpPr/>
          <p:nvPr/>
        </p:nvSpPr>
        <p:spPr>
          <a:xfrm>
            <a:off x="4846320" y="2103120"/>
            <a:ext cx="64008" cy="64008"/>
          </a:xfrm>
          <a:prstGeom prst="ellipse">
            <a:avLst/>
          </a:prstGeom>
          <a:solidFill>
            <a:srgbClr val="0D2233"/>
          </a:solidFill>
          <a:ln w="12700">
            <a:solidFill>
              <a:srgbClr val="0D2233"/>
            </a:solidFill>
            <a:prstDash val="solid"/>
          </a:ln>
        </p:spPr>
        <p:txBody>
          <a:bodyPr/>
          <a:lstStyle/>
          <a:p>
            <a:endParaRPr lang="fr-FR"/>
          </a:p>
        </p:txBody>
      </p:sp>
      <p:sp>
        <p:nvSpPr>
          <p:cNvPr id="30" name="Shape 28"/>
          <p:cNvSpPr/>
          <p:nvPr/>
        </p:nvSpPr>
        <p:spPr>
          <a:xfrm>
            <a:off x="5321808" y="2103120"/>
            <a:ext cx="64008" cy="64008"/>
          </a:xfrm>
          <a:prstGeom prst="ellipse">
            <a:avLst/>
          </a:prstGeom>
          <a:solidFill>
            <a:srgbClr val="0D2233"/>
          </a:solidFill>
          <a:ln w="12700">
            <a:solidFill>
              <a:srgbClr val="0D2233"/>
            </a:solidFill>
            <a:prstDash val="solid"/>
          </a:ln>
        </p:spPr>
        <p:txBody>
          <a:bodyPr/>
          <a:lstStyle/>
          <a:p>
            <a:endParaRPr lang="fr-FR"/>
          </a:p>
        </p:txBody>
      </p:sp>
      <p:sp>
        <p:nvSpPr>
          <p:cNvPr id="31" name="Shape 29"/>
          <p:cNvSpPr/>
          <p:nvPr/>
        </p:nvSpPr>
        <p:spPr>
          <a:xfrm>
            <a:off x="5797296" y="2103120"/>
            <a:ext cx="64008" cy="64008"/>
          </a:xfrm>
          <a:prstGeom prst="ellipse">
            <a:avLst/>
          </a:prstGeom>
          <a:solidFill>
            <a:srgbClr val="0D2233"/>
          </a:solidFill>
          <a:ln w="12700">
            <a:solidFill>
              <a:srgbClr val="0D2233"/>
            </a:solidFill>
            <a:prstDash val="solid"/>
          </a:ln>
        </p:spPr>
        <p:txBody>
          <a:bodyPr/>
          <a:lstStyle/>
          <a:p>
            <a:endParaRPr lang="fr-FR"/>
          </a:p>
        </p:txBody>
      </p:sp>
      <p:sp>
        <p:nvSpPr>
          <p:cNvPr id="32" name="Shape 30"/>
          <p:cNvSpPr/>
          <p:nvPr/>
        </p:nvSpPr>
        <p:spPr>
          <a:xfrm>
            <a:off x="6272784" y="2103120"/>
            <a:ext cx="64008" cy="64008"/>
          </a:xfrm>
          <a:prstGeom prst="ellipse">
            <a:avLst/>
          </a:prstGeom>
          <a:solidFill>
            <a:srgbClr val="0D2233"/>
          </a:solidFill>
          <a:ln w="12700">
            <a:solidFill>
              <a:srgbClr val="0D2233"/>
            </a:solidFill>
            <a:prstDash val="solid"/>
          </a:ln>
        </p:spPr>
        <p:txBody>
          <a:bodyPr/>
          <a:lstStyle/>
          <a:p>
            <a:endParaRPr lang="fr-FR"/>
          </a:p>
        </p:txBody>
      </p:sp>
      <p:sp>
        <p:nvSpPr>
          <p:cNvPr id="33" name="Shape 31"/>
          <p:cNvSpPr/>
          <p:nvPr/>
        </p:nvSpPr>
        <p:spPr>
          <a:xfrm>
            <a:off x="6748272" y="2103120"/>
            <a:ext cx="64008" cy="64008"/>
          </a:xfrm>
          <a:prstGeom prst="ellipse">
            <a:avLst/>
          </a:prstGeom>
          <a:solidFill>
            <a:srgbClr val="0D2233"/>
          </a:solidFill>
          <a:ln w="12700">
            <a:solidFill>
              <a:srgbClr val="0D2233"/>
            </a:solidFill>
            <a:prstDash val="solid"/>
          </a:ln>
        </p:spPr>
        <p:txBody>
          <a:bodyPr/>
          <a:lstStyle/>
          <a:p>
            <a:endParaRPr lang="fr-FR"/>
          </a:p>
        </p:txBody>
      </p:sp>
      <p:sp>
        <p:nvSpPr>
          <p:cNvPr id="34" name="Shape 32"/>
          <p:cNvSpPr/>
          <p:nvPr/>
        </p:nvSpPr>
        <p:spPr>
          <a:xfrm>
            <a:off x="7223760" y="2103120"/>
            <a:ext cx="64008" cy="64008"/>
          </a:xfrm>
          <a:prstGeom prst="ellipse">
            <a:avLst/>
          </a:prstGeom>
          <a:solidFill>
            <a:srgbClr val="0D2233"/>
          </a:solidFill>
          <a:ln w="12700">
            <a:solidFill>
              <a:srgbClr val="0D2233"/>
            </a:solidFill>
            <a:prstDash val="solid"/>
          </a:ln>
        </p:spPr>
        <p:txBody>
          <a:bodyPr/>
          <a:lstStyle/>
          <a:p>
            <a:endParaRPr lang="fr-FR"/>
          </a:p>
        </p:txBody>
      </p:sp>
      <p:sp>
        <p:nvSpPr>
          <p:cNvPr id="35" name="Shape 33"/>
          <p:cNvSpPr/>
          <p:nvPr/>
        </p:nvSpPr>
        <p:spPr>
          <a:xfrm>
            <a:off x="7699248" y="2103120"/>
            <a:ext cx="64008" cy="64008"/>
          </a:xfrm>
          <a:prstGeom prst="ellipse">
            <a:avLst/>
          </a:prstGeom>
          <a:solidFill>
            <a:srgbClr val="0D2233"/>
          </a:solidFill>
          <a:ln w="12700">
            <a:solidFill>
              <a:srgbClr val="0D2233"/>
            </a:solidFill>
            <a:prstDash val="solid"/>
          </a:ln>
        </p:spPr>
        <p:txBody>
          <a:bodyPr/>
          <a:lstStyle/>
          <a:p>
            <a:endParaRPr lang="fr-FR"/>
          </a:p>
        </p:txBody>
      </p:sp>
      <p:sp>
        <p:nvSpPr>
          <p:cNvPr id="36" name="Shape 34"/>
          <p:cNvSpPr/>
          <p:nvPr/>
        </p:nvSpPr>
        <p:spPr>
          <a:xfrm>
            <a:off x="8174736" y="2103120"/>
            <a:ext cx="64008" cy="64008"/>
          </a:xfrm>
          <a:prstGeom prst="ellipse">
            <a:avLst/>
          </a:prstGeom>
          <a:solidFill>
            <a:srgbClr val="0D2233"/>
          </a:solidFill>
          <a:ln w="12700">
            <a:solidFill>
              <a:srgbClr val="0D2233"/>
            </a:solidFill>
            <a:prstDash val="solid"/>
          </a:ln>
        </p:spPr>
        <p:txBody>
          <a:bodyPr/>
          <a:lstStyle/>
          <a:p>
            <a:endParaRPr lang="fr-FR"/>
          </a:p>
        </p:txBody>
      </p:sp>
      <p:sp>
        <p:nvSpPr>
          <p:cNvPr id="37" name="Shape 35"/>
          <p:cNvSpPr/>
          <p:nvPr/>
        </p:nvSpPr>
        <p:spPr>
          <a:xfrm>
            <a:off x="8650224" y="2103120"/>
            <a:ext cx="64008" cy="64008"/>
          </a:xfrm>
          <a:prstGeom prst="ellipse">
            <a:avLst/>
          </a:prstGeom>
          <a:solidFill>
            <a:srgbClr val="0D2233"/>
          </a:solidFill>
          <a:ln w="12700">
            <a:solidFill>
              <a:srgbClr val="0D2233"/>
            </a:solidFill>
            <a:prstDash val="solid"/>
          </a:ln>
        </p:spPr>
        <p:txBody>
          <a:bodyPr/>
          <a:lstStyle/>
          <a:p>
            <a:endParaRPr lang="fr-FR"/>
          </a:p>
        </p:txBody>
      </p:sp>
      <p:sp>
        <p:nvSpPr>
          <p:cNvPr id="38" name="Shape 36"/>
          <p:cNvSpPr/>
          <p:nvPr/>
        </p:nvSpPr>
        <p:spPr>
          <a:xfrm>
            <a:off x="4846320" y="2697480"/>
            <a:ext cx="64008" cy="64008"/>
          </a:xfrm>
          <a:prstGeom prst="ellipse">
            <a:avLst/>
          </a:prstGeom>
          <a:solidFill>
            <a:srgbClr val="0D2233"/>
          </a:solidFill>
          <a:ln w="12700">
            <a:solidFill>
              <a:srgbClr val="0D2233"/>
            </a:solidFill>
            <a:prstDash val="solid"/>
          </a:ln>
        </p:spPr>
        <p:txBody>
          <a:bodyPr/>
          <a:lstStyle/>
          <a:p>
            <a:endParaRPr lang="fr-FR"/>
          </a:p>
        </p:txBody>
      </p:sp>
      <p:sp>
        <p:nvSpPr>
          <p:cNvPr id="39" name="Shape 37"/>
          <p:cNvSpPr/>
          <p:nvPr/>
        </p:nvSpPr>
        <p:spPr>
          <a:xfrm>
            <a:off x="5321808" y="2697480"/>
            <a:ext cx="64008" cy="64008"/>
          </a:xfrm>
          <a:prstGeom prst="ellipse">
            <a:avLst/>
          </a:prstGeom>
          <a:solidFill>
            <a:srgbClr val="0D2233"/>
          </a:solidFill>
          <a:ln w="12700">
            <a:solidFill>
              <a:srgbClr val="0D2233"/>
            </a:solidFill>
            <a:prstDash val="solid"/>
          </a:ln>
        </p:spPr>
        <p:txBody>
          <a:bodyPr/>
          <a:lstStyle/>
          <a:p>
            <a:endParaRPr lang="fr-FR"/>
          </a:p>
        </p:txBody>
      </p:sp>
      <p:sp>
        <p:nvSpPr>
          <p:cNvPr id="40" name="Shape 38"/>
          <p:cNvSpPr/>
          <p:nvPr/>
        </p:nvSpPr>
        <p:spPr>
          <a:xfrm>
            <a:off x="5797296" y="2697480"/>
            <a:ext cx="64008" cy="64008"/>
          </a:xfrm>
          <a:prstGeom prst="ellipse">
            <a:avLst/>
          </a:prstGeom>
          <a:solidFill>
            <a:srgbClr val="0D2233"/>
          </a:solidFill>
          <a:ln w="12700">
            <a:solidFill>
              <a:srgbClr val="0D2233"/>
            </a:solidFill>
            <a:prstDash val="solid"/>
          </a:ln>
        </p:spPr>
        <p:txBody>
          <a:bodyPr/>
          <a:lstStyle/>
          <a:p>
            <a:endParaRPr lang="fr-FR"/>
          </a:p>
        </p:txBody>
      </p:sp>
      <p:sp>
        <p:nvSpPr>
          <p:cNvPr id="41" name="Shape 39"/>
          <p:cNvSpPr/>
          <p:nvPr/>
        </p:nvSpPr>
        <p:spPr>
          <a:xfrm>
            <a:off x="6272784" y="2697480"/>
            <a:ext cx="64008" cy="64008"/>
          </a:xfrm>
          <a:prstGeom prst="ellipse">
            <a:avLst/>
          </a:prstGeom>
          <a:solidFill>
            <a:srgbClr val="0D2233"/>
          </a:solidFill>
          <a:ln w="12700">
            <a:solidFill>
              <a:srgbClr val="0D2233"/>
            </a:solidFill>
            <a:prstDash val="solid"/>
          </a:ln>
        </p:spPr>
        <p:txBody>
          <a:bodyPr/>
          <a:lstStyle/>
          <a:p>
            <a:endParaRPr lang="fr-FR"/>
          </a:p>
        </p:txBody>
      </p:sp>
      <p:sp>
        <p:nvSpPr>
          <p:cNvPr id="42" name="Shape 40"/>
          <p:cNvSpPr/>
          <p:nvPr/>
        </p:nvSpPr>
        <p:spPr>
          <a:xfrm>
            <a:off x="6748272" y="2697480"/>
            <a:ext cx="64008" cy="64008"/>
          </a:xfrm>
          <a:prstGeom prst="ellipse">
            <a:avLst/>
          </a:prstGeom>
          <a:solidFill>
            <a:srgbClr val="0D2233"/>
          </a:solidFill>
          <a:ln w="12700">
            <a:solidFill>
              <a:srgbClr val="0D2233"/>
            </a:solidFill>
            <a:prstDash val="solid"/>
          </a:ln>
        </p:spPr>
        <p:txBody>
          <a:bodyPr/>
          <a:lstStyle/>
          <a:p>
            <a:endParaRPr lang="fr-FR"/>
          </a:p>
        </p:txBody>
      </p:sp>
      <p:sp>
        <p:nvSpPr>
          <p:cNvPr id="43" name="Shape 41"/>
          <p:cNvSpPr/>
          <p:nvPr/>
        </p:nvSpPr>
        <p:spPr>
          <a:xfrm>
            <a:off x="7223760" y="2697480"/>
            <a:ext cx="64008" cy="64008"/>
          </a:xfrm>
          <a:prstGeom prst="ellipse">
            <a:avLst/>
          </a:prstGeom>
          <a:solidFill>
            <a:srgbClr val="0D2233"/>
          </a:solidFill>
          <a:ln w="12700">
            <a:solidFill>
              <a:srgbClr val="0D2233"/>
            </a:solidFill>
            <a:prstDash val="solid"/>
          </a:ln>
        </p:spPr>
        <p:txBody>
          <a:bodyPr/>
          <a:lstStyle/>
          <a:p>
            <a:endParaRPr lang="fr-FR"/>
          </a:p>
        </p:txBody>
      </p:sp>
      <p:sp>
        <p:nvSpPr>
          <p:cNvPr id="44" name="Shape 42"/>
          <p:cNvSpPr/>
          <p:nvPr/>
        </p:nvSpPr>
        <p:spPr>
          <a:xfrm>
            <a:off x="7699248" y="2697480"/>
            <a:ext cx="64008" cy="64008"/>
          </a:xfrm>
          <a:prstGeom prst="ellipse">
            <a:avLst/>
          </a:prstGeom>
          <a:solidFill>
            <a:srgbClr val="0D2233"/>
          </a:solidFill>
          <a:ln w="12700">
            <a:solidFill>
              <a:srgbClr val="0D2233"/>
            </a:solidFill>
            <a:prstDash val="solid"/>
          </a:ln>
        </p:spPr>
        <p:txBody>
          <a:bodyPr/>
          <a:lstStyle/>
          <a:p>
            <a:endParaRPr lang="fr-FR"/>
          </a:p>
        </p:txBody>
      </p:sp>
      <p:sp>
        <p:nvSpPr>
          <p:cNvPr id="45" name="Shape 43"/>
          <p:cNvSpPr/>
          <p:nvPr/>
        </p:nvSpPr>
        <p:spPr>
          <a:xfrm>
            <a:off x="8174736" y="2697480"/>
            <a:ext cx="64008" cy="64008"/>
          </a:xfrm>
          <a:prstGeom prst="ellipse">
            <a:avLst/>
          </a:prstGeom>
          <a:solidFill>
            <a:srgbClr val="0D2233"/>
          </a:solidFill>
          <a:ln w="12700">
            <a:solidFill>
              <a:srgbClr val="0D2233"/>
            </a:solidFill>
            <a:prstDash val="solid"/>
          </a:ln>
        </p:spPr>
        <p:txBody>
          <a:bodyPr/>
          <a:lstStyle/>
          <a:p>
            <a:endParaRPr lang="fr-FR"/>
          </a:p>
        </p:txBody>
      </p:sp>
      <p:sp>
        <p:nvSpPr>
          <p:cNvPr id="46" name="Shape 44"/>
          <p:cNvSpPr/>
          <p:nvPr/>
        </p:nvSpPr>
        <p:spPr>
          <a:xfrm>
            <a:off x="8650224" y="2697480"/>
            <a:ext cx="64008" cy="64008"/>
          </a:xfrm>
          <a:prstGeom prst="ellipse">
            <a:avLst/>
          </a:prstGeom>
          <a:solidFill>
            <a:srgbClr val="0D2233"/>
          </a:solidFill>
          <a:ln w="12700">
            <a:solidFill>
              <a:srgbClr val="0D2233"/>
            </a:solidFill>
            <a:prstDash val="solid"/>
          </a:ln>
        </p:spPr>
        <p:txBody>
          <a:bodyPr/>
          <a:lstStyle/>
          <a:p>
            <a:endParaRPr lang="fr-FR"/>
          </a:p>
        </p:txBody>
      </p:sp>
      <p:sp>
        <p:nvSpPr>
          <p:cNvPr id="47" name="Shape 45"/>
          <p:cNvSpPr/>
          <p:nvPr/>
        </p:nvSpPr>
        <p:spPr>
          <a:xfrm>
            <a:off x="4846320" y="3291840"/>
            <a:ext cx="64008" cy="64008"/>
          </a:xfrm>
          <a:prstGeom prst="ellipse">
            <a:avLst/>
          </a:prstGeom>
          <a:solidFill>
            <a:srgbClr val="0D2233"/>
          </a:solidFill>
          <a:ln w="12700">
            <a:solidFill>
              <a:srgbClr val="0D2233"/>
            </a:solidFill>
            <a:prstDash val="solid"/>
          </a:ln>
        </p:spPr>
        <p:txBody>
          <a:bodyPr/>
          <a:lstStyle/>
          <a:p>
            <a:endParaRPr lang="fr-FR"/>
          </a:p>
        </p:txBody>
      </p:sp>
      <p:sp>
        <p:nvSpPr>
          <p:cNvPr id="48" name="Shape 46"/>
          <p:cNvSpPr/>
          <p:nvPr/>
        </p:nvSpPr>
        <p:spPr>
          <a:xfrm>
            <a:off x="5321808" y="3291840"/>
            <a:ext cx="64008" cy="64008"/>
          </a:xfrm>
          <a:prstGeom prst="ellipse">
            <a:avLst/>
          </a:prstGeom>
          <a:solidFill>
            <a:srgbClr val="0D2233"/>
          </a:solidFill>
          <a:ln w="12700">
            <a:solidFill>
              <a:srgbClr val="0D2233"/>
            </a:solidFill>
            <a:prstDash val="solid"/>
          </a:ln>
        </p:spPr>
        <p:txBody>
          <a:bodyPr/>
          <a:lstStyle/>
          <a:p>
            <a:endParaRPr lang="fr-FR"/>
          </a:p>
        </p:txBody>
      </p:sp>
      <p:sp>
        <p:nvSpPr>
          <p:cNvPr id="49" name="Shape 47"/>
          <p:cNvSpPr/>
          <p:nvPr/>
        </p:nvSpPr>
        <p:spPr>
          <a:xfrm>
            <a:off x="5797296" y="3291840"/>
            <a:ext cx="64008" cy="64008"/>
          </a:xfrm>
          <a:prstGeom prst="ellipse">
            <a:avLst/>
          </a:prstGeom>
          <a:solidFill>
            <a:srgbClr val="0D2233"/>
          </a:solidFill>
          <a:ln w="12700">
            <a:solidFill>
              <a:srgbClr val="0D2233"/>
            </a:solidFill>
            <a:prstDash val="solid"/>
          </a:ln>
        </p:spPr>
        <p:txBody>
          <a:bodyPr/>
          <a:lstStyle/>
          <a:p>
            <a:endParaRPr lang="fr-FR"/>
          </a:p>
        </p:txBody>
      </p:sp>
      <p:sp>
        <p:nvSpPr>
          <p:cNvPr id="50" name="Shape 48"/>
          <p:cNvSpPr/>
          <p:nvPr/>
        </p:nvSpPr>
        <p:spPr>
          <a:xfrm>
            <a:off x="6272784" y="3291840"/>
            <a:ext cx="64008" cy="64008"/>
          </a:xfrm>
          <a:prstGeom prst="ellipse">
            <a:avLst/>
          </a:prstGeom>
          <a:solidFill>
            <a:srgbClr val="0D2233"/>
          </a:solidFill>
          <a:ln w="12700">
            <a:solidFill>
              <a:srgbClr val="0D2233"/>
            </a:solidFill>
            <a:prstDash val="solid"/>
          </a:ln>
        </p:spPr>
        <p:txBody>
          <a:bodyPr/>
          <a:lstStyle/>
          <a:p>
            <a:endParaRPr lang="fr-FR"/>
          </a:p>
        </p:txBody>
      </p:sp>
      <p:sp>
        <p:nvSpPr>
          <p:cNvPr id="51" name="Shape 49"/>
          <p:cNvSpPr/>
          <p:nvPr/>
        </p:nvSpPr>
        <p:spPr>
          <a:xfrm>
            <a:off x="6748272" y="3291840"/>
            <a:ext cx="64008" cy="64008"/>
          </a:xfrm>
          <a:prstGeom prst="ellipse">
            <a:avLst/>
          </a:prstGeom>
          <a:solidFill>
            <a:srgbClr val="0D2233"/>
          </a:solidFill>
          <a:ln w="12700">
            <a:solidFill>
              <a:srgbClr val="0D2233"/>
            </a:solidFill>
            <a:prstDash val="solid"/>
          </a:ln>
        </p:spPr>
        <p:txBody>
          <a:bodyPr/>
          <a:lstStyle/>
          <a:p>
            <a:endParaRPr lang="fr-FR"/>
          </a:p>
        </p:txBody>
      </p:sp>
      <p:sp>
        <p:nvSpPr>
          <p:cNvPr id="52" name="Shape 50"/>
          <p:cNvSpPr/>
          <p:nvPr/>
        </p:nvSpPr>
        <p:spPr>
          <a:xfrm>
            <a:off x="7223760" y="3291840"/>
            <a:ext cx="64008" cy="64008"/>
          </a:xfrm>
          <a:prstGeom prst="ellipse">
            <a:avLst/>
          </a:prstGeom>
          <a:solidFill>
            <a:srgbClr val="0D2233"/>
          </a:solidFill>
          <a:ln w="12700">
            <a:solidFill>
              <a:srgbClr val="0D2233"/>
            </a:solidFill>
            <a:prstDash val="solid"/>
          </a:ln>
        </p:spPr>
        <p:txBody>
          <a:bodyPr/>
          <a:lstStyle/>
          <a:p>
            <a:endParaRPr lang="fr-FR"/>
          </a:p>
        </p:txBody>
      </p:sp>
      <p:sp>
        <p:nvSpPr>
          <p:cNvPr id="53" name="Shape 51"/>
          <p:cNvSpPr/>
          <p:nvPr/>
        </p:nvSpPr>
        <p:spPr>
          <a:xfrm>
            <a:off x="7699248" y="3291840"/>
            <a:ext cx="64008" cy="64008"/>
          </a:xfrm>
          <a:prstGeom prst="ellipse">
            <a:avLst/>
          </a:prstGeom>
          <a:solidFill>
            <a:srgbClr val="0D2233"/>
          </a:solidFill>
          <a:ln w="12700">
            <a:solidFill>
              <a:srgbClr val="0D2233"/>
            </a:solidFill>
            <a:prstDash val="solid"/>
          </a:ln>
        </p:spPr>
        <p:txBody>
          <a:bodyPr/>
          <a:lstStyle/>
          <a:p>
            <a:endParaRPr lang="fr-FR"/>
          </a:p>
        </p:txBody>
      </p:sp>
      <p:sp>
        <p:nvSpPr>
          <p:cNvPr id="54" name="Shape 52"/>
          <p:cNvSpPr/>
          <p:nvPr/>
        </p:nvSpPr>
        <p:spPr>
          <a:xfrm>
            <a:off x="8174736" y="3291840"/>
            <a:ext cx="64008" cy="64008"/>
          </a:xfrm>
          <a:prstGeom prst="ellipse">
            <a:avLst/>
          </a:prstGeom>
          <a:solidFill>
            <a:srgbClr val="0D2233"/>
          </a:solidFill>
          <a:ln w="12700">
            <a:solidFill>
              <a:srgbClr val="0D2233"/>
            </a:solidFill>
            <a:prstDash val="solid"/>
          </a:ln>
        </p:spPr>
        <p:txBody>
          <a:bodyPr/>
          <a:lstStyle/>
          <a:p>
            <a:endParaRPr lang="fr-FR"/>
          </a:p>
        </p:txBody>
      </p:sp>
      <p:sp>
        <p:nvSpPr>
          <p:cNvPr id="55" name="Shape 53"/>
          <p:cNvSpPr/>
          <p:nvPr/>
        </p:nvSpPr>
        <p:spPr>
          <a:xfrm>
            <a:off x="8650224" y="3291840"/>
            <a:ext cx="64008" cy="64008"/>
          </a:xfrm>
          <a:prstGeom prst="ellipse">
            <a:avLst/>
          </a:prstGeom>
          <a:solidFill>
            <a:srgbClr val="0D2233"/>
          </a:solidFill>
          <a:ln w="12700">
            <a:solidFill>
              <a:srgbClr val="0D2233"/>
            </a:solidFill>
            <a:prstDash val="solid"/>
          </a:ln>
        </p:spPr>
        <p:txBody>
          <a:bodyPr/>
          <a:lstStyle/>
          <a:p>
            <a:endParaRPr lang="fr-FR"/>
          </a:p>
        </p:txBody>
      </p:sp>
      <p:sp>
        <p:nvSpPr>
          <p:cNvPr id="56" name="Shape 54"/>
          <p:cNvSpPr/>
          <p:nvPr/>
        </p:nvSpPr>
        <p:spPr>
          <a:xfrm>
            <a:off x="4846320" y="3886200"/>
            <a:ext cx="64008" cy="64008"/>
          </a:xfrm>
          <a:prstGeom prst="ellipse">
            <a:avLst/>
          </a:prstGeom>
          <a:solidFill>
            <a:srgbClr val="0D2233"/>
          </a:solidFill>
          <a:ln w="12700">
            <a:solidFill>
              <a:srgbClr val="0D2233"/>
            </a:solidFill>
            <a:prstDash val="solid"/>
          </a:ln>
        </p:spPr>
        <p:txBody>
          <a:bodyPr/>
          <a:lstStyle/>
          <a:p>
            <a:endParaRPr lang="fr-FR"/>
          </a:p>
        </p:txBody>
      </p:sp>
      <p:sp>
        <p:nvSpPr>
          <p:cNvPr id="57" name="Shape 55"/>
          <p:cNvSpPr/>
          <p:nvPr/>
        </p:nvSpPr>
        <p:spPr>
          <a:xfrm>
            <a:off x="5321808" y="3886200"/>
            <a:ext cx="64008" cy="64008"/>
          </a:xfrm>
          <a:prstGeom prst="ellipse">
            <a:avLst/>
          </a:prstGeom>
          <a:solidFill>
            <a:srgbClr val="0D2233"/>
          </a:solidFill>
          <a:ln w="12700">
            <a:solidFill>
              <a:srgbClr val="0D2233"/>
            </a:solidFill>
            <a:prstDash val="solid"/>
          </a:ln>
        </p:spPr>
        <p:txBody>
          <a:bodyPr/>
          <a:lstStyle/>
          <a:p>
            <a:endParaRPr lang="fr-FR"/>
          </a:p>
        </p:txBody>
      </p:sp>
      <p:sp>
        <p:nvSpPr>
          <p:cNvPr id="58" name="Shape 56"/>
          <p:cNvSpPr/>
          <p:nvPr/>
        </p:nvSpPr>
        <p:spPr>
          <a:xfrm>
            <a:off x="5797296" y="3886200"/>
            <a:ext cx="64008" cy="64008"/>
          </a:xfrm>
          <a:prstGeom prst="ellipse">
            <a:avLst/>
          </a:prstGeom>
          <a:solidFill>
            <a:srgbClr val="0D2233"/>
          </a:solidFill>
          <a:ln w="12700">
            <a:solidFill>
              <a:srgbClr val="0D2233"/>
            </a:solidFill>
            <a:prstDash val="solid"/>
          </a:ln>
        </p:spPr>
        <p:txBody>
          <a:bodyPr/>
          <a:lstStyle/>
          <a:p>
            <a:endParaRPr lang="fr-FR"/>
          </a:p>
        </p:txBody>
      </p:sp>
      <p:sp>
        <p:nvSpPr>
          <p:cNvPr id="59" name="Shape 57"/>
          <p:cNvSpPr/>
          <p:nvPr/>
        </p:nvSpPr>
        <p:spPr>
          <a:xfrm>
            <a:off x="6272784" y="3886200"/>
            <a:ext cx="64008" cy="64008"/>
          </a:xfrm>
          <a:prstGeom prst="ellipse">
            <a:avLst/>
          </a:prstGeom>
          <a:solidFill>
            <a:srgbClr val="0D2233"/>
          </a:solidFill>
          <a:ln w="12700">
            <a:solidFill>
              <a:srgbClr val="0D2233"/>
            </a:solidFill>
            <a:prstDash val="solid"/>
          </a:ln>
        </p:spPr>
        <p:txBody>
          <a:bodyPr/>
          <a:lstStyle/>
          <a:p>
            <a:endParaRPr lang="fr-FR"/>
          </a:p>
        </p:txBody>
      </p:sp>
      <p:sp>
        <p:nvSpPr>
          <p:cNvPr id="60" name="Shape 58"/>
          <p:cNvSpPr/>
          <p:nvPr/>
        </p:nvSpPr>
        <p:spPr>
          <a:xfrm>
            <a:off x="6748272" y="3886200"/>
            <a:ext cx="64008" cy="64008"/>
          </a:xfrm>
          <a:prstGeom prst="ellipse">
            <a:avLst/>
          </a:prstGeom>
          <a:solidFill>
            <a:srgbClr val="0D2233"/>
          </a:solidFill>
          <a:ln w="12700">
            <a:solidFill>
              <a:srgbClr val="0D2233"/>
            </a:solidFill>
            <a:prstDash val="solid"/>
          </a:ln>
        </p:spPr>
        <p:txBody>
          <a:bodyPr/>
          <a:lstStyle/>
          <a:p>
            <a:endParaRPr lang="fr-FR"/>
          </a:p>
        </p:txBody>
      </p:sp>
      <p:sp>
        <p:nvSpPr>
          <p:cNvPr id="61" name="Shape 59"/>
          <p:cNvSpPr/>
          <p:nvPr/>
        </p:nvSpPr>
        <p:spPr>
          <a:xfrm>
            <a:off x="7223760" y="3886200"/>
            <a:ext cx="64008" cy="64008"/>
          </a:xfrm>
          <a:prstGeom prst="ellipse">
            <a:avLst/>
          </a:prstGeom>
          <a:solidFill>
            <a:srgbClr val="0D2233"/>
          </a:solidFill>
          <a:ln w="12700">
            <a:solidFill>
              <a:srgbClr val="0D2233"/>
            </a:solidFill>
            <a:prstDash val="solid"/>
          </a:ln>
        </p:spPr>
        <p:txBody>
          <a:bodyPr/>
          <a:lstStyle/>
          <a:p>
            <a:endParaRPr lang="fr-FR"/>
          </a:p>
        </p:txBody>
      </p:sp>
      <p:sp>
        <p:nvSpPr>
          <p:cNvPr id="62" name="Shape 60"/>
          <p:cNvSpPr/>
          <p:nvPr/>
        </p:nvSpPr>
        <p:spPr>
          <a:xfrm>
            <a:off x="7699248" y="3886200"/>
            <a:ext cx="64008" cy="64008"/>
          </a:xfrm>
          <a:prstGeom prst="ellipse">
            <a:avLst/>
          </a:prstGeom>
          <a:solidFill>
            <a:srgbClr val="0D2233"/>
          </a:solidFill>
          <a:ln w="12700">
            <a:solidFill>
              <a:srgbClr val="0D2233"/>
            </a:solidFill>
            <a:prstDash val="solid"/>
          </a:ln>
        </p:spPr>
        <p:txBody>
          <a:bodyPr/>
          <a:lstStyle/>
          <a:p>
            <a:endParaRPr lang="fr-FR"/>
          </a:p>
        </p:txBody>
      </p:sp>
      <p:sp>
        <p:nvSpPr>
          <p:cNvPr id="63" name="Shape 61"/>
          <p:cNvSpPr/>
          <p:nvPr/>
        </p:nvSpPr>
        <p:spPr>
          <a:xfrm>
            <a:off x="8174736" y="3886200"/>
            <a:ext cx="64008" cy="64008"/>
          </a:xfrm>
          <a:prstGeom prst="ellipse">
            <a:avLst/>
          </a:prstGeom>
          <a:solidFill>
            <a:srgbClr val="0D2233"/>
          </a:solidFill>
          <a:ln w="12700">
            <a:solidFill>
              <a:srgbClr val="0D2233"/>
            </a:solidFill>
            <a:prstDash val="solid"/>
          </a:ln>
        </p:spPr>
        <p:txBody>
          <a:bodyPr/>
          <a:lstStyle/>
          <a:p>
            <a:endParaRPr lang="fr-FR"/>
          </a:p>
        </p:txBody>
      </p:sp>
      <p:sp>
        <p:nvSpPr>
          <p:cNvPr id="64" name="Shape 62"/>
          <p:cNvSpPr/>
          <p:nvPr/>
        </p:nvSpPr>
        <p:spPr>
          <a:xfrm>
            <a:off x="8650224" y="3886200"/>
            <a:ext cx="64008" cy="64008"/>
          </a:xfrm>
          <a:prstGeom prst="ellipse">
            <a:avLst/>
          </a:prstGeom>
          <a:solidFill>
            <a:srgbClr val="0D2233"/>
          </a:solidFill>
          <a:ln w="12700">
            <a:solidFill>
              <a:srgbClr val="0D2233"/>
            </a:solidFill>
            <a:prstDash val="solid"/>
          </a:ln>
        </p:spPr>
        <p:txBody>
          <a:bodyPr/>
          <a:lstStyle/>
          <a:p>
            <a:endParaRPr lang="fr-FR"/>
          </a:p>
        </p:txBody>
      </p:sp>
      <p:sp>
        <p:nvSpPr>
          <p:cNvPr id="65" name="Shape 63"/>
          <p:cNvSpPr/>
          <p:nvPr/>
        </p:nvSpPr>
        <p:spPr>
          <a:xfrm>
            <a:off x="4846320" y="4480560"/>
            <a:ext cx="64008" cy="64008"/>
          </a:xfrm>
          <a:prstGeom prst="ellipse">
            <a:avLst/>
          </a:prstGeom>
          <a:solidFill>
            <a:srgbClr val="0D2233"/>
          </a:solidFill>
          <a:ln w="12700">
            <a:solidFill>
              <a:srgbClr val="0D2233"/>
            </a:solidFill>
            <a:prstDash val="solid"/>
          </a:ln>
        </p:spPr>
        <p:txBody>
          <a:bodyPr/>
          <a:lstStyle/>
          <a:p>
            <a:endParaRPr lang="fr-FR"/>
          </a:p>
        </p:txBody>
      </p:sp>
      <p:sp>
        <p:nvSpPr>
          <p:cNvPr id="66" name="Shape 64"/>
          <p:cNvSpPr/>
          <p:nvPr/>
        </p:nvSpPr>
        <p:spPr>
          <a:xfrm>
            <a:off x="5321808" y="4480560"/>
            <a:ext cx="64008" cy="64008"/>
          </a:xfrm>
          <a:prstGeom prst="ellipse">
            <a:avLst/>
          </a:prstGeom>
          <a:solidFill>
            <a:srgbClr val="0D2233"/>
          </a:solidFill>
          <a:ln w="12700">
            <a:solidFill>
              <a:srgbClr val="0D2233"/>
            </a:solidFill>
            <a:prstDash val="solid"/>
          </a:ln>
        </p:spPr>
        <p:txBody>
          <a:bodyPr/>
          <a:lstStyle/>
          <a:p>
            <a:endParaRPr lang="fr-FR"/>
          </a:p>
        </p:txBody>
      </p:sp>
      <p:sp>
        <p:nvSpPr>
          <p:cNvPr id="67" name="Shape 65"/>
          <p:cNvSpPr/>
          <p:nvPr/>
        </p:nvSpPr>
        <p:spPr>
          <a:xfrm>
            <a:off x="5797296" y="4480560"/>
            <a:ext cx="64008" cy="64008"/>
          </a:xfrm>
          <a:prstGeom prst="ellipse">
            <a:avLst/>
          </a:prstGeom>
          <a:solidFill>
            <a:srgbClr val="0D2233"/>
          </a:solidFill>
          <a:ln w="12700">
            <a:solidFill>
              <a:srgbClr val="0D2233"/>
            </a:solidFill>
            <a:prstDash val="solid"/>
          </a:ln>
        </p:spPr>
        <p:txBody>
          <a:bodyPr/>
          <a:lstStyle/>
          <a:p>
            <a:endParaRPr lang="fr-FR"/>
          </a:p>
        </p:txBody>
      </p:sp>
      <p:sp>
        <p:nvSpPr>
          <p:cNvPr id="68" name="Shape 66"/>
          <p:cNvSpPr/>
          <p:nvPr/>
        </p:nvSpPr>
        <p:spPr>
          <a:xfrm>
            <a:off x="6272784" y="4480560"/>
            <a:ext cx="64008" cy="64008"/>
          </a:xfrm>
          <a:prstGeom prst="ellipse">
            <a:avLst/>
          </a:prstGeom>
          <a:solidFill>
            <a:srgbClr val="0D2233"/>
          </a:solidFill>
          <a:ln w="12700">
            <a:solidFill>
              <a:srgbClr val="0D2233"/>
            </a:solidFill>
            <a:prstDash val="solid"/>
          </a:ln>
        </p:spPr>
        <p:txBody>
          <a:bodyPr/>
          <a:lstStyle/>
          <a:p>
            <a:endParaRPr lang="fr-FR"/>
          </a:p>
        </p:txBody>
      </p:sp>
      <p:sp>
        <p:nvSpPr>
          <p:cNvPr id="69" name="Shape 67"/>
          <p:cNvSpPr/>
          <p:nvPr/>
        </p:nvSpPr>
        <p:spPr>
          <a:xfrm>
            <a:off x="6748272" y="4480560"/>
            <a:ext cx="64008" cy="64008"/>
          </a:xfrm>
          <a:prstGeom prst="ellipse">
            <a:avLst/>
          </a:prstGeom>
          <a:solidFill>
            <a:srgbClr val="0D2233"/>
          </a:solidFill>
          <a:ln w="12700">
            <a:solidFill>
              <a:srgbClr val="0D2233"/>
            </a:solidFill>
            <a:prstDash val="solid"/>
          </a:ln>
        </p:spPr>
        <p:txBody>
          <a:bodyPr/>
          <a:lstStyle/>
          <a:p>
            <a:endParaRPr lang="fr-FR"/>
          </a:p>
        </p:txBody>
      </p:sp>
      <p:sp>
        <p:nvSpPr>
          <p:cNvPr id="70" name="Shape 68"/>
          <p:cNvSpPr/>
          <p:nvPr/>
        </p:nvSpPr>
        <p:spPr>
          <a:xfrm>
            <a:off x="7223760" y="4480560"/>
            <a:ext cx="64008" cy="64008"/>
          </a:xfrm>
          <a:prstGeom prst="ellipse">
            <a:avLst/>
          </a:prstGeom>
          <a:solidFill>
            <a:srgbClr val="0D2233"/>
          </a:solidFill>
          <a:ln w="12700">
            <a:solidFill>
              <a:srgbClr val="0D2233"/>
            </a:solidFill>
            <a:prstDash val="solid"/>
          </a:ln>
        </p:spPr>
        <p:txBody>
          <a:bodyPr/>
          <a:lstStyle/>
          <a:p>
            <a:endParaRPr lang="fr-FR"/>
          </a:p>
        </p:txBody>
      </p:sp>
      <p:sp>
        <p:nvSpPr>
          <p:cNvPr id="71" name="Shape 69"/>
          <p:cNvSpPr/>
          <p:nvPr/>
        </p:nvSpPr>
        <p:spPr>
          <a:xfrm>
            <a:off x="7699248" y="4480560"/>
            <a:ext cx="64008" cy="64008"/>
          </a:xfrm>
          <a:prstGeom prst="ellipse">
            <a:avLst/>
          </a:prstGeom>
          <a:solidFill>
            <a:srgbClr val="0D2233"/>
          </a:solidFill>
          <a:ln w="12700">
            <a:solidFill>
              <a:srgbClr val="0D2233"/>
            </a:solidFill>
            <a:prstDash val="solid"/>
          </a:ln>
        </p:spPr>
        <p:txBody>
          <a:bodyPr/>
          <a:lstStyle/>
          <a:p>
            <a:endParaRPr lang="fr-FR"/>
          </a:p>
        </p:txBody>
      </p:sp>
      <p:sp>
        <p:nvSpPr>
          <p:cNvPr id="72" name="Shape 70"/>
          <p:cNvSpPr/>
          <p:nvPr/>
        </p:nvSpPr>
        <p:spPr>
          <a:xfrm>
            <a:off x="8174736" y="4480560"/>
            <a:ext cx="64008" cy="64008"/>
          </a:xfrm>
          <a:prstGeom prst="ellipse">
            <a:avLst/>
          </a:prstGeom>
          <a:solidFill>
            <a:srgbClr val="0D2233"/>
          </a:solidFill>
          <a:ln w="12700">
            <a:solidFill>
              <a:srgbClr val="0D2233"/>
            </a:solidFill>
            <a:prstDash val="solid"/>
          </a:ln>
        </p:spPr>
        <p:txBody>
          <a:bodyPr/>
          <a:lstStyle/>
          <a:p>
            <a:endParaRPr lang="fr-FR"/>
          </a:p>
        </p:txBody>
      </p:sp>
      <p:sp>
        <p:nvSpPr>
          <p:cNvPr id="73" name="Shape 71"/>
          <p:cNvSpPr/>
          <p:nvPr/>
        </p:nvSpPr>
        <p:spPr>
          <a:xfrm>
            <a:off x="8650224" y="4480560"/>
            <a:ext cx="64008" cy="64008"/>
          </a:xfrm>
          <a:prstGeom prst="ellipse">
            <a:avLst/>
          </a:prstGeom>
          <a:solidFill>
            <a:srgbClr val="0D2233"/>
          </a:solidFill>
          <a:ln w="12700">
            <a:solidFill>
              <a:srgbClr val="0D2233"/>
            </a:solidFill>
            <a:prstDash val="solid"/>
          </a:ln>
        </p:spPr>
        <p:txBody>
          <a:bodyPr/>
          <a:lstStyle/>
          <a:p>
            <a:endParaRPr lang="fr-FR"/>
          </a:p>
        </p:txBody>
      </p:sp>
      <p:sp>
        <p:nvSpPr>
          <p:cNvPr id="74" name="Text 72"/>
          <p:cNvSpPr/>
          <p:nvPr/>
        </p:nvSpPr>
        <p:spPr>
          <a:xfrm>
            <a:off x="411480" y="457200"/>
            <a:ext cx="4389120" cy="2194560"/>
          </a:xfrm>
          <a:prstGeom prst="rect">
            <a:avLst/>
          </a:prstGeom>
          <a:noFill/>
          <a:ln/>
        </p:spPr>
        <p:txBody>
          <a:bodyPr wrap="square" lIns="0" tIns="0" rIns="0" bIns="0" rtlCol="0" anchor="b"/>
          <a:lstStyle/>
          <a:p>
            <a:pPr marL="0" indent="0" algn="l">
              <a:buNone/>
            </a:pPr>
            <a:r>
              <a:rPr lang="en-US" sz="12000" b="1" dirty="0">
                <a:solidFill>
                  <a:srgbClr val="FFFFFF"/>
                </a:solidFill>
                <a:latin typeface="Calibri" pitchFamily="34" charset="0"/>
                <a:ea typeface="Calibri" pitchFamily="34" charset="-122"/>
                <a:cs typeface="Calibri" pitchFamily="34" charset="-120"/>
              </a:rPr>
              <a:t>XDR</a:t>
            </a:r>
            <a:endParaRPr lang="en-US" sz="12000" dirty="0"/>
          </a:p>
        </p:txBody>
      </p:sp>
      <p:sp>
        <p:nvSpPr>
          <p:cNvPr id="75" name="Shape 73"/>
          <p:cNvSpPr/>
          <p:nvPr/>
        </p:nvSpPr>
        <p:spPr>
          <a:xfrm>
            <a:off x="411480" y="2788920"/>
            <a:ext cx="3657600" cy="36576"/>
          </a:xfrm>
          <a:prstGeom prst="rect">
            <a:avLst/>
          </a:prstGeom>
          <a:solidFill>
            <a:srgbClr val="00B4D8"/>
          </a:solidFill>
          <a:ln w="12700">
            <a:solidFill>
              <a:srgbClr val="00B4D8"/>
            </a:solidFill>
            <a:prstDash val="solid"/>
          </a:ln>
        </p:spPr>
        <p:txBody>
          <a:bodyPr/>
          <a:lstStyle/>
          <a:p>
            <a:endParaRPr lang="fr-FR"/>
          </a:p>
        </p:txBody>
      </p:sp>
      <p:sp>
        <p:nvSpPr>
          <p:cNvPr id="76" name="Text 74"/>
          <p:cNvSpPr/>
          <p:nvPr/>
        </p:nvSpPr>
        <p:spPr>
          <a:xfrm>
            <a:off x="411480" y="2926080"/>
            <a:ext cx="5029200" cy="384048"/>
          </a:xfrm>
          <a:prstGeom prst="rect">
            <a:avLst/>
          </a:prstGeom>
          <a:noFill/>
          <a:ln/>
        </p:spPr>
        <p:txBody>
          <a:bodyPr wrap="square" lIns="0" tIns="0" rIns="0" bIns="0" rtlCol="0" anchor="ctr"/>
          <a:lstStyle/>
          <a:p>
            <a:pPr marL="0" indent="0" algn="l">
              <a:buNone/>
            </a:pPr>
            <a:r>
              <a:rPr lang="en-US" sz="1500" kern="0" spc="200" dirty="0">
                <a:solidFill>
                  <a:srgbClr val="00B4D8"/>
                </a:solidFill>
                <a:latin typeface="Calibri" pitchFamily="34" charset="0"/>
                <a:ea typeface="Calibri" pitchFamily="34" charset="-122"/>
                <a:cs typeface="Calibri" pitchFamily="34" charset="-120"/>
              </a:rPr>
              <a:t>Extended Detection &amp; Response</a:t>
            </a:r>
            <a:endParaRPr lang="en-US" sz="1500" dirty="0"/>
          </a:p>
        </p:txBody>
      </p:sp>
      <p:sp>
        <p:nvSpPr>
          <p:cNvPr id="77" name="Text 75"/>
          <p:cNvSpPr/>
          <p:nvPr/>
        </p:nvSpPr>
        <p:spPr>
          <a:xfrm>
            <a:off x="411480" y="3401568"/>
            <a:ext cx="5029200" cy="310896"/>
          </a:xfrm>
          <a:prstGeom prst="rect">
            <a:avLst/>
          </a:prstGeom>
          <a:noFill/>
          <a:ln/>
        </p:spPr>
        <p:txBody>
          <a:bodyPr wrap="square" lIns="0" tIns="0" rIns="0" bIns="0" rtlCol="0" anchor="ctr"/>
          <a:lstStyle/>
          <a:p>
            <a:r>
              <a:rPr lang="en-US" sz="1300" dirty="0">
                <a:solidFill>
                  <a:srgbClr val="8EAABA"/>
                </a:solidFill>
                <a:latin typeface="Calibri" pitchFamily="34" charset="0"/>
                <a:ea typeface="Calibri" pitchFamily="34" charset="-122"/>
                <a:cs typeface="Calibri" pitchFamily="34" charset="-120"/>
              </a:rPr>
              <a:t>Veille </a:t>
            </a:r>
            <a:r>
              <a:rPr lang="en-US" sz="1300" dirty="0" err="1">
                <a:solidFill>
                  <a:srgbClr val="8EAABA"/>
                </a:solidFill>
                <a:latin typeface="Calibri" pitchFamily="34" charset="0"/>
                <a:ea typeface="Calibri" pitchFamily="34" charset="-122"/>
                <a:cs typeface="Calibri" pitchFamily="34" charset="-120"/>
              </a:rPr>
              <a:t>technologique</a:t>
            </a:r>
            <a:r>
              <a:rPr lang="en-US" sz="1300" dirty="0">
                <a:solidFill>
                  <a:srgbClr val="8EAABA"/>
                </a:solidFill>
                <a:latin typeface="Calibri" pitchFamily="34" charset="0"/>
                <a:ea typeface="Calibri" pitchFamily="34" charset="-122"/>
                <a:cs typeface="Calibri" pitchFamily="34" charset="-120"/>
              </a:rPr>
              <a:t> ·</a:t>
            </a:r>
            <a:r>
              <a:rPr lang="en-US" sz="1400" dirty="0">
                <a:solidFill>
                  <a:srgbClr val="8EAABA"/>
                </a:solidFill>
                <a:latin typeface="Calibri" pitchFamily="34" charset="0"/>
                <a:ea typeface="Calibri" pitchFamily="34" charset="-122"/>
                <a:cs typeface="Calibri" pitchFamily="34" charset="-120"/>
              </a:rPr>
              <a:t> </a:t>
            </a:r>
            <a:r>
              <a:rPr lang="en-US" sz="1400" dirty="0" err="1">
                <a:solidFill>
                  <a:srgbClr val="8EAABA"/>
                </a:solidFill>
                <a:latin typeface="Calibri" pitchFamily="34" charset="0"/>
                <a:ea typeface="Calibri" pitchFamily="34" charset="-122"/>
                <a:cs typeface="Calibri" pitchFamily="34" charset="-120"/>
              </a:rPr>
              <a:t>Épreuve</a:t>
            </a:r>
            <a:r>
              <a:rPr lang="en-US" sz="1400" dirty="0">
                <a:solidFill>
                  <a:srgbClr val="8EAABA"/>
                </a:solidFill>
                <a:latin typeface="Calibri" pitchFamily="34" charset="0"/>
                <a:ea typeface="Calibri" pitchFamily="34" charset="-122"/>
                <a:cs typeface="Calibri" pitchFamily="34" charset="-120"/>
              </a:rPr>
              <a:t> E5 </a:t>
            </a:r>
            <a:endParaRPr lang="en-US" sz="1300" dirty="0"/>
          </a:p>
        </p:txBody>
      </p:sp>
      <p:sp>
        <p:nvSpPr>
          <p:cNvPr id="78" name="Text 76"/>
          <p:cNvSpPr/>
          <p:nvPr/>
        </p:nvSpPr>
        <p:spPr>
          <a:xfrm>
            <a:off x="411480" y="4754880"/>
            <a:ext cx="8321040" cy="256032"/>
          </a:xfrm>
          <a:prstGeom prst="rect">
            <a:avLst/>
          </a:prstGeom>
          <a:noFill/>
          <a:ln/>
        </p:spPr>
        <p:txBody>
          <a:bodyPr wrap="square" lIns="0" tIns="0" rIns="0" bIns="0" rtlCol="0" anchor="ctr"/>
          <a:lstStyle/>
          <a:p>
            <a:pPr marL="0" indent="0" algn="l">
              <a:buNone/>
            </a:pPr>
            <a:r>
              <a:rPr lang="en-US" sz="1000" dirty="0">
                <a:solidFill>
                  <a:srgbClr val="8EAABA"/>
                </a:solidFill>
                <a:latin typeface="Calibri" pitchFamily="34" charset="0"/>
                <a:ea typeface="Calibri" pitchFamily="34" charset="-122"/>
                <a:cs typeface="Calibri" pitchFamily="34" charset="-120"/>
              </a:rPr>
              <a:t>Ilyès Tizaoui · BTS SIO SLAM · H3 Hitema · Fév – Juin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80F"/>
        </a:solidFill>
        <a:effectLst/>
      </p:bgPr>
    </p:bg>
    <p:spTree>
      <p:nvGrpSpPr>
        <p:cNvPr id="1" name=""/>
        <p:cNvGrpSpPr/>
        <p:nvPr/>
      </p:nvGrpSpPr>
      <p:grpSpPr>
        <a:xfrm>
          <a:off x="0" y="0"/>
          <a:ext cx="0" cy="0"/>
          <a:chOff x="0" y="0"/>
          <a:chExt cx="0" cy="0"/>
        </a:xfrm>
      </p:grpSpPr>
      <p:sp>
        <p:nvSpPr>
          <p:cNvPr id="2" name="Text 0"/>
          <p:cNvSpPr/>
          <p:nvPr/>
        </p:nvSpPr>
        <p:spPr>
          <a:xfrm>
            <a:off x="411480" y="256032"/>
            <a:ext cx="8321040" cy="237744"/>
          </a:xfrm>
          <a:prstGeom prst="rect">
            <a:avLst/>
          </a:prstGeom>
          <a:noFill/>
          <a:ln/>
        </p:spPr>
        <p:txBody>
          <a:bodyPr wrap="square" lIns="0" tIns="0" rIns="0" bIns="0" rtlCol="0" anchor="ctr"/>
          <a:lstStyle/>
          <a:p>
            <a:pPr marL="0" indent="0" algn="l">
              <a:buNone/>
            </a:pPr>
            <a:r>
              <a:rPr lang="en-US" sz="1000" kern="0" spc="400" dirty="0">
                <a:solidFill>
                  <a:srgbClr val="00B4D8"/>
                </a:solidFill>
                <a:latin typeface="Calibri" pitchFamily="34" charset="0"/>
                <a:ea typeface="Calibri" pitchFamily="34" charset="-122"/>
                <a:cs typeface="Calibri" pitchFamily="34" charset="-120"/>
              </a:rPr>
              <a:t>01 · DÉFINITION</a:t>
            </a:r>
            <a:endParaRPr lang="en-US" sz="1000" dirty="0"/>
          </a:p>
        </p:txBody>
      </p:sp>
      <p:sp>
        <p:nvSpPr>
          <p:cNvPr id="3" name="Text 1"/>
          <p:cNvSpPr/>
          <p:nvPr/>
        </p:nvSpPr>
        <p:spPr>
          <a:xfrm>
            <a:off x="411480" y="566928"/>
            <a:ext cx="832104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Qu'est-ce que l'XDR ?</a:t>
            </a:r>
            <a:endParaRPr lang="en-US" sz="3000" dirty="0"/>
          </a:p>
        </p:txBody>
      </p:sp>
      <p:sp>
        <p:nvSpPr>
          <p:cNvPr id="4" name="Shape 2"/>
          <p:cNvSpPr/>
          <p:nvPr/>
        </p:nvSpPr>
        <p:spPr>
          <a:xfrm>
            <a:off x="3703320" y="2084832"/>
            <a:ext cx="1737360" cy="768096"/>
          </a:xfrm>
          <a:prstGeom prst="ellipse">
            <a:avLst/>
          </a:prstGeom>
          <a:solidFill>
            <a:srgbClr val="00B4D8"/>
          </a:solidFill>
          <a:ln w="12700">
            <a:solidFill>
              <a:srgbClr val="00B4D8"/>
            </a:solidFill>
            <a:prstDash val="solid"/>
          </a:ln>
        </p:spPr>
        <p:txBody>
          <a:bodyPr/>
          <a:lstStyle/>
          <a:p>
            <a:endParaRPr lang="fr-FR"/>
          </a:p>
        </p:txBody>
      </p:sp>
      <p:sp>
        <p:nvSpPr>
          <p:cNvPr id="5" name="Text 3"/>
          <p:cNvSpPr/>
          <p:nvPr/>
        </p:nvSpPr>
        <p:spPr>
          <a:xfrm>
            <a:off x="3703320" y="2084832"/>
            <a:ext cx="1737360" cy="768096"/>
          </a:xfrm>
          <a:prstGeom prst="rect">
            <a:avLst/>
          </a:prstGeom>
          <a:noFill/>
          <a:ln/>
        </p:spPr>
        <p:txBody>
          <a:bodyPr wrap="square" lIns="0" tIns="0" rIns="0" bIns="0" rtlCol="0" anchor="ctr"/>
          <a:lstStyle/>
          <a:p>
            <a:pPr marL="0" indent="0" algn="ctr">
              <a:buNone/>
            </a:pPr>
            <a:r>
              <a:rPr lang="en-US" sz="1800" b="1" dirty="0">
                <a:solidFill>
                  <a:srgbClr val="04080F"/>
                </a:solidFill>
                <a:latin typeface="Calibri" pitchFamily="34" charset="0"/>
                <a:ea typeface="Calibri" pitchFamily="34" charset="-122"/>
                <a:cs typeface="Calibri" pitchFamily="34" charset="-120"/>
              </a:rPr>
              <a:t>XDR</a:t>
            </a:r>
            <a:endParaRPr lang="en-US" sz="1800" dirty="0"/>
          </a:p>
        </p:txBody>
      </p:sp>
      <p:sp>
        <p:nvSpPr>
          <p:cNvPr id="6" name="Shape 4"/>
          <p:cNvSpPr/>
          <p:nvPr/>
        </p:nvSpPr>
        <p:spPr>
          <a:xfrm>
            <a:off x="2240280" y="1618488"/>
            <a:ext cx="1515621" cy="718806"/>
          </a:xfrm>
          <a:prstGeom prst="line">
            <a:avLst/>
          </a:prstGeom>
          <a:noFill/>
          <a:ln w="12700">
            <a:solidFill>
              <a:srgbClr val="00B4D8"/>
            </a:solidFill>
            <a:prstDash val="sysDash"/>
          </a:ln>
        </p:spPr>
        <p:txBody>
          <a:bodyPr/>
          <a:lstStyle/>
          <a:p>
            <a:endParaRPr lang="fr-FR"/>
          </a:p>
        </p:txBody>
      </p:sp>
      <p:sp>
        <p:nvSpPr>
          <p:cNvPr id="7" name="Shape 5"/>
          <p:cNvSpPr/>
          <p:nvPr/>
        </p:nvSpPr>
        <p:spPr>
          <a:xfrm>
            <a:off x="411480" y="1417320"/>
            <a:ext cx="1828800" cy="402336"/>
          </a:xfrm>
          <a:prstGeom prst="roundRect">
            <a:avLst>
              <a:gd name="adj" fmla="val 13636"/>
            </a:avLst>
          </a:prstGeom>
          <a:solidFill>
            <a:srgbClr val="0D1B2A"/>
          </a:solidFill>
          <a:ln w="12700">
            <a:solidFill>
              <a:srgbClr val="00B4D8"/>
            </a:solidFill>
            <a:prstDash val="solid"/>
          </a:ln>
        </p:spPr>
        <p:txBody>
          <a:bodyPr/>
          <a:lstStyle/>
          <a:p>
            <a:endParaRPr lang="fr-FR"/>
          </a:p>
        </p:txBody>
      </p:sp>
      <p:sp>
        <p:nvSpPr>
          <p:cNvPr id="8" name="Text 6"/>
          <p:cNvSpPr/>
          <p:nvPr/>
        </p:nvSpPr>
        <p:spPr>
          <a:xfrm>
            <a:off x="521208" y="1417320"/>
            <a:ext cx="1609344" cy="402336"/>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ENDPOINTS</a:t>
            </a:r>
            <a:endParaRPr lang="en-US" sz="1100" dirty="0"/>
          </a:p>
        </p:txBody>
      </p:sp>
      <p:sp>
        <p:nvSpPr>
          <p:cNvPr id="9" name="Shape 7"/>
          <p:cNvSpPr/>
          <p:nvPr/>
        </p:nvSpPr>
        <p:spPr>
          <a:xfrm flipV="1">
            <a:off x="2258568" y="2642616"/>
            <a:ext cx="1508760" cy="356616"/>
          </a:xfrm>
          <a:prstGeom prst="line">
            <a:avLst/>
          </a:prstGeom>
          <a:noFill/>
          <a:ln w="12700">
            <a:solidFill>
              <a:srgbClr val="00B4D8"/>
            </a:solidFill>
            <a:prstDash val="sysDash"/>
          </a:ln>
        </p:spPr>
        <p:txBody>
          <a:bodyPr/>
          <a:lstStyle/>
          <a:p>
            <a:endParaRPr lang="fr-FR"/>
          </a:p>
        </p:txBody>
      </p:sp>
      <p:sp>
        <p:nvSpPr>
          <p:cNvPr id="10" name="Shape 8"/>
          <p:cNvSpPr/>
          <p:nvPr/>
        </p:nvSpPr>
        <p:spPr>
          <a:xfrm>
            <a:off x="411480" y="2788920"/>
            <a:ext cx="1828800" cy="402336"/>
          </a:xfrm>
          <a:prstGeom prst="roundRect">
            <a:avLst>
              <a:gd name="adj" fmla="val 13636"/>
            </a:avLst>
          </a:prstGeom>
          <a:solidFill>
            <a:srgbClr val="0D1B2A"/>
          </a:solidFill>
          <a:ln w="12700">
            <a:solidFill>
              <a:srgbClr val="00B4D8"/>
            </a:solidFill>
            <a:prstDash val="solid"/>
          </a:ln>
        </p:spPr>
        <p:txBody>
          <a:bodyPr/>
          <a:lstStyle/>
          <a:p>
            <a:endParaRPr lang="fr-FR"/>
          </a:p>
        </p:txBody>
      </p:sp>
      <p:sp>
        <p:nvSpPr>
          <p:cNvPr id="11" name="Text 9"/>
          <p:cNvSpPr/>
          <p:nvPr/>
        </p:nvSpPr>
        <p:spPr>
          <a:xfrm>
            <a:off x="521208" y="2788920"/>
            <a:ext cx="1609344" cy="402336"/>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RÉSEAU</a:t>
            </a:r>
            <a:endParaRPr lang="en-US" sz="1100" dirty="0"/>
          </a:p>
        </p:txBody>
      </p:sp>
      <p:sp>
        <p:nvSpPr>
          <p:cNvPr id="12" name="Shape 10"/>
          <p:cNvSpPr/>
          <p:nvPr/>
        </p:nvSpPr>
        <p:spPr>
          <a:xfrm>
            <a:off x="4572000" y="2852928"/>
            <a:ext cx="0" cy="338328"/>
          </a:xfrm>
          <a:prstGeom prst="line">
            <a:avLst/>
          </a:prstGeom>
          <a:noFill/>
          <a:ln w="12700">
            <a:solidFill>
              <a:srgbClr val="00B4D8"/>
            </a:solidFill>
            <a:prstDash val="sysDash"/>
          </a:ln>
        </p:spPr>
        <p:txBody>
          <a:bodyPr/>
          <a:lstStyle/>
          <a:p>
            <a:endParaRPr lang="fr-FR"/>
          </a:p>
        </p:txBody>
      </p:sp>
      <p:sp>
        <p:nvSpPr>
          <p:cNvPr id="13" name="Shape 11"/>
          <p:cNvSpPr/>
          <p:nvPr/>
        </p:nvSpPr>
        <p:spPr>
          <a:xfrm>
            <a:off x="3657600" y="3182112"/>
            <a:ext cx="1828800" cy="402336"/>
          </a:xfrm>
          <a:prstGeom prst="roundRect">
            <a:avLst>
              <a:gd name="adj" fmla="val 13636"/>
            </a:avLst>
          </a:prstGeom>
          <a:solidFill>
            <a:srgbClr val="0D1B2A"/>
          </a:solidFill>
          <a:ln w="12700">
            <a:solidFill>
              <a:srgbClr val="00B4D8"/>
            </a:solidFill>
            <a:prstDash val="solid"/>
          </a:ln>
        </p:spPr>
        <p:txBody>
          <a:bodyPr/>
          <a:lstStyle/>
          <a:p>
            <a:endParaRPr lang="fr-FR"/>
          </a:p>
        </p:txBody>
      </p:sp>
      <p:sp>
        <p:nvSpPr>
          <p:cNvPr id="14" name="Text 12"/>
          <p:cNvSpPr/>
          <p:nvPr/>
        </p:nvSpPr>
        <p:spPr>
          <a:xfrm>
            <a:off x="3767328" y="3182112"/>
            <a:ext cx="1609344" cy="402336"/>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CLOUD</a:t>
            </a:r>
            <a:endParaRPr lang="en-US" sz="1100" dirty="0"/>
          </a:p>
        </p:txBody>
      </p:sp>
      <p:sp>
        <p:nvSpPr>
          <p:cNvPr id="15" name="Shape 13"/>
          <p:cNvSpPr/>
          <p:nvPr/>
        </p:nvSpPr>
        <p:spPr>
          <a:xfrm>
            <a:off x="5376673" y="2587752"/>
            <a:ext cx="1527048" cy="402336"/>
          </a:xfrm>
          <a:prstGeom prst="line">
            <a:avLst/>
          </a:prstGeom>
          <a:noFill/>
          <a:ln w="12700">
            <a:solidFill>
              <a:srgbClr val="00B4D8"/>
            </a:solidFill>
            <a:prstDash val="sysDash"/>
          </a:ln>
        </p:spPr>
        <p:txBody>
          <a:bodyPr/>
          <a:lstStyle/>
          <a:p>
            <a:endParaRPr lang="fr-FR"/>
          </a:p>
        </p:txBody>
      </p:sp>
      <p:sp>
        <p:nvSpPr>
          <p:cNvPr id="16" name="Shape 14"/>
          <p:cNvSpPr/>
          <p:nvPr/>
        </p:nvSpPr>
        <p:spPr>
          <a:xfrm>
            <a:off x="6903720" y="2788920"/>
            <a:ext cx="1828800" cy="402336"/>
          </a:xfrm>
          <a:prstGeom prst="roundRect">
            <a:avLst>
              <a:gd name="adj" fmla="val 13636"/>
            </a:avLst>
          </a:prstGeom>
          <a:solidFill>
            <a:srgbClr val="0D1B2A"/>
          </a:solidFill>
          <a:ln w="12700">
            <a:solidFill>
              <a:srgbClr val="00B4D8"/>
            </a:solidFill>
            <a:prstDash val="solid"/>
          </a:ln>
        </p:spPr>
        <p:txBody>
          <a:bodyPr/>
          <a:lstStyle/>
          <a:p>
            <a:endParaRPr lang="fr-FR"/>
          </a:p>
        </p:txBody>
      </p:sp>
      <p:sp>
        <p:nvSpPr>
          <p:cNvPr id="17" name="Text 15"/>
          <p:cNvSpPr/>
          <p:nvPr/>
        </p:nvSpPr>
        <p:spPr>
          <a:xfrm>
            <a:off x="7013448" y="2788920"/>
            <a:ext cx="1609344" cy="402336"/>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IDENTITÉS</a:t>
            </a:r>
            <a:endParaRPr lang="en-US" sz="1100" dirty="0"/>
          </a:p>
        </p:txBody>
      </p:sp>
      <p:sp>
        <p:nvSpPr>
          <p:cNvPr id="18" name="Shape 16"/>
          <p:cNvSpPr/>
          <p:nvPr/>
        </p:nvSpPr>
        <p:spPr>
          <a:xfrm flipV="1">
            <a:off x="5388099" y="1618488"/>
            <a:ext cx="1497333" cy="704088"/>
          </a:xfrm>
          <a:prstGeom prst="line">
            <a:avLst/>
          </a:prstGeom>
          <a:noFill/>
          <a:ln w="12700">
            <a:solidFill>
              <a:srgbClr val="00B4D8"/>
            </a:solidFill>
            <a:prstDash val="sysDash"/>
          </a:ln>
        </p:spPr>
        <p:txBody>
          <a:bodyPr/>
          <a:lstStyle/>
          <a:p>
            <a:endParaRPr lang="fr-FR"/>
          </a:p>
        </p:txBody>
      </p:sp>
      <p:sp>
        <p:nvSpPr>
          <p:cNvPr id="19" name="Shape 17"/>
          <p:cNvSpPr/>
          <p:nvPr/>
        </p:nvSpPr>
        <p:spPr>
          <a:xfrm>
            <a:off x="6903720" y="1417320"/>
            <a:ext cx="1828800" cy="402336"/>
          </a:xfrm>
          <a:prstGeom prst="roundRect">
            <a:avLst>
              <a:gd name="adj" fmla="val 13636"/>
            </a:avLst>
          </a:prstGeom>
          <a:solidFill>
            <a:srgbClr val="0D1B2A"/>
          </a:solidFill>
          <a:ln w="12700">
            <a:solidFill>
              <a:srgbClr val="00B4D8"/>
            </a:solidFill>
            <a:prstDash val="solid"/>
          </a:ln>
        </p:spPr>
        <p:txBody>
          <a:bodyPr/>
          <a:lstStyle/>
          <a:p>
            <a:endParaRPr lang="fr-FR"/>
          </a:p>
        </p:txBody>
      </p:sp>
      <p:sp>
        <p:nvSpPr>
          <p:cNvPr id="20" name="Text 18"/>
          <p:cNvSpPr/>
          <p:nvPr/>
        </p:nvSpPr>
        <p:spPr>
          <a:xfrm>
            <a:off x="7013448" y="1417320"/>
            <a:ext cx="1609344" cy="402336"/>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APPLICATIONS</a:t>
            </a:r>
            <a:endParaRPr lang="en-US" sz="1100" dirty="0"/>
          </a:p>
        </p:txBody>
      </p:sp>
      <p:sp>
        <p:nvSpPr>
          <p:cNvPr id="21" name="Text 19"/>
          <p:cNvSpPr/>
          <p:nvPr/>
        </p:nvSpPr>
        <p:spPr>
          <a:xfrm>
            <a:off x="411480" y="3730752"/>
            <a:ext cx="8321040" cy="29260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Une seule console. Toutes les couches.</a:t>
            </a:r>
            <a:endParaRPr lang="en-US" sz="1300" dirty="0"/>
          </a:p>
        </p:txBody>
      </p:sp>
      <p:sp>
        <p:nvSpPr>
          <p:cNvPr id="22" name="Text 20"/>
          <p:cNvSpPr/>
          <p:nvPr/>
        </p:nvSpPr>
        <p:spPr>
          <a:xfrm>
            <a:off x="411480" y="4059936"/>
            <a:ext cx="8321040" cy="502920"/>
          </a:xfrm>
          <a:prstGeom prst="rect">
            <a:avLst/>
          </a:prstGeom>
          <a:noFill/>
          <a:ln/>
        </p:spPr>
        <p:txBody>
          <a:bodyPr wrap="square" lIns="0" tIns="0" rIns="0" bIns="0" rtlCol="0" anchor="ctr"/>
          <a:lstStyle/>
          <a:p>
            <a:pPr marL="0" indent="0" algn="l">
              <a:buNone/>
            </a:pPr>
            <a:r>
              <a:rPr lang="en-US" sz="1200" dirty="0">
                <a:solidFill>
                  <a:srgbClr val="8EAABA"/>
                </a:solidFill>
                <a:latin typeface="Calibri" pitchFamily="34" charset="0"/>
                <a:ea typeface="Calibri" pitchFamily="34" charset="-122"/>
                <a:cs typeface="Calibri" pitchFamily="34" charset="-120"/>
              </a:rPr>
              <a:t>L'XDR corrèle automatiquement la télémétrie des endpoints, du réseau, du cloud et des identités pour détecter les menaces cross-couches.  ↓ MTTD · ↓ Faux positifs · Alternative au SIEM</a:t>
            </a:r>
            <a:endParaRPr lang="en-US" sz="1200" dirty="0"/>
          </a:p>
        </p:txBody>
      </p:sp>
      <p:sp>
        <p:nvSpPr>
          <p:cNvPr id="23" name="Text 21"/>
          <p:cNvSpPr/>
          <p:nvPr/>
        </p:nvSpPr>
        <p:spPr>
          <a:xfrm>
            <a:off x="411480" y="4818888"/>
            <a:ext cx="8321040" cy="201168"/>
          </a:xfrm>
          <a:prstGeom prst="rect">
            <a:avLst/>
          </a:prstGeom>
          <a:noFill/>
          <a:ln/>
        </p:spPr>
        <p:txBody>
          <a:bodyPr wrap="square" lIns="0" tIns="0" rIns="0" bIns="0" rtlCol="0" anchor="ctr"/>
          <a:lstStyle/>
          <a:p>
            <a:pPr marL="0" indent="0" algn="l">
              <a:buNone/>
            </a:pPr>
            <a:r>
              <a:rPr lang="en-US" sz="900" dirty="0">
                <a:solidFill>
                  <a:srgbClr val="8EAABA"/>
                </a:solidFill>
                <a:latin typeface="Calibri" pitchFamily="34" charset="0"/>
                <a:ea typeface="Calibri" pitchFamily="34" charset="-122"/>
                <a:cs typeface="Calibri" pitchFamily="34" charset="-120"/>
              </a:rPr>
              <a:t>Source : LeMagIT — Le continuum de détection &amp; réponse, 11 mars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80F"/>
        </a:solidFill>
        <a:effectLst/>
      </p:bgPr>
    </p:bg>
    <p:spTree>
      <p:nvGrpSpPr>
        <p:cNvPr id="1" name=""/>
        <p:cNvGrpSpPr/>
        <p:nvPr/>
      </p:nvGrpSpPr>
      <p:grpSpPr>
        <a:xfrm>
          <a:off x="0" y="0"/>
          <a:ext cx="0" cy="0"/>
          <a:chOff x="0" y="0"/>
          <a:chExt cx="0" cy="0"/>
        </a:xfrm>
      </p:grpSpPr>
      <p:sp>
        <p:nvSpPr>
          <p:cNvPr id="2" name="Text 0"/>
          <p:cNvSpPr/>
          <p:nvPr/>
        </p:nvSpPr>
        <p:spPr>
          <a:xfrm>
            <a:off x="411480" y="256032"/>
            <a:ext cx="8321040" cy="237744"/>
          </a:xfrm>
          <a:prstGeom prst="rect">
            <a:avLst/>
          </a:prstGeom>
          <a:noFill/>
          <a:ln/>
        </p:spPr>
        <p:txBody>
          <a:bodyPr wrap="square" lIns="0" tIns="0" rIns="0" bIns="0" rtlCol="0" anchor="ctr"/>
          <a:lstStyle/>
          <a:p>
            <a:pPr marL="0" indent="0" algn="l">
              <a:buNone/>
            </a:pPr>
            <a:r>
              <a:rPr lang="en-US" sz="1000" kern="0" spc="400" dirty="0">
                <a:solidFill>
                  <a:srgbClr val="00B4D8"/>
                </a:solidFill>
                <a:latin typeface="Calibri" pitchFamily="34" charset="0"/>
                <a:ea typeface="Calibri" pitchFamily="34" charset="-122"/>
                <a:cs typeface="Calibri" pitchFamily="34" charset="-120"/>
              </a:rPr>
              <a:t>02 · COMPARATIF</a:t>
            </a:r>
            <a:endParaRPr lang="en-US" sz="1000" dirty="0"/>
          </a:p>
        </p:txBody>
      </p:sp>
      <p:sp>
        <p:nvSpPr>
          <p:cNvPr id="3" name="Text 1"/>
          <p:cNvSpPr/>
          <p:nvPr/>
        </p:nvSpPr>
        <p:spPr>
          <a:xfrm>
            <a:off x="411480" y="566928"/>
            <a:ext cx="832104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EDR  →  XDR  →  MDR</a:t>
            </a:r>
            <a:endParaRPr lang="en-US" sz="3000" dirty="0"/>
          </a:p>
        </p:txBody>
      </p:sp>
      <p:sp>
        <p:nvSpPr>
          <p:cNvPr id="4" name="Shape 2"/>
          <p:cNvSpPr/>
          <p:nvPr/>
        </p:nvSpPr>
        <p:spPr>
          <a:xfrm>
            <a:off x="411480" y="1298448"/>
            <a:ext cx="2663952" cy="3566160"/>
          </a:xfrm>
          <a:prstGeom prst="roundRect">
            <a:avLst>
              <a:gd name="adj" fmla="val 2746"/>
            </a:avLst>
          </a:prstGeom>
          <a:solidFill>
            <a:srgbClr val="0D1B2A"/>
          </a:solidFill>
          <a:ln w="12700">
            <a:solidFill>
              <a:srgbClr val="8EAABA"/>
            </a:solidFill>
            <a:prstDash val="solid"/>
          </a:ln>
          <a:effectLst>
            <a:outerShdw blurRad="101600" dist="38100" dir="2700000" algn="bl" rotWithShape="0">
              <a:srgbClr val="000000">
                <a:alpha val="22000"/>
              </a:srgbClr>
            </a:outerShdw>
          </a:effectLst>
        </p:spPr>
        <p:txBody>
          <a:bodyPr/>
          <a:lstStyle/>
          <a:p>
            <a:endParaRPr lang="fr-FR"/>
          </a:p>
        </p:txBody>
      </p:sp>
      <p:sp>
        <p:nvSpPr>
          <p:cNvPr id="5" name="Text 3"/>
          <p:cNvSpPr/>
          <p:nvPr/>
        </p:nvSpPr>
        <p:spPr>
          <a:xfrm>
            <a:off x="612648" y="1499616"/>
            <a:ext cx="2261616" cy="502920"/>
          </a:xfrm>
          <a:prstGeom prst="rect">
            <a:avLst/>
          </a:prstGeom>
          <a:noFill/>
          <a:ln/>
        </p:spPr>
        <p:txBody>
          <a:bodyPr wrap="square" lIns="0" tIns="0" rIns="0" bIns="0" rtlCol="0" anchor="ctr"/>
          <a:lstStyle/>
          <a:p>
            <a:pPr marL="0" indent="0" algn="ctr">
              <a:buNone/>
            </a:pPr>
            <a:r>
              <a:rPr lang="en-US" sz="2600" b="1" dirty="0">
                <a:solidFill>
                  <a:srgbClr val="8EAABA"/>
                </a:solidFill>
                <a:latin typeface="Calibri" pitchFamily="34" charset="0"/>
                <a:ea typeface="Calibri" pitchFamily="34" charset="-122"/>
                <a:cs typeface="Calibri" pitchFamily="34" charset="-120"/>
              </a:rPr>
              <a:t>EDR</a:t>
            </a:r>
            <a:endParaRPr lang="en-US" sz="2600" dirty="0"/>
          </a:p>
        </p:txBody>
      </p:sp>
      <p:sp>
        <p:nvSpPr>
          <p:cNvPr id="6" name="Shape 4"/>
          <p:cNvSpPr/>
          <p:nvPr/>
        </p:nvSpPr>
        <p:spPr>
          <a:xfrm>
            <a:off x="612648" y="2103120"/>
            <a:ext cx="2261616" cy="0"/>
          </a:xfrm>
          <a:prstGeom prst="line">
            <a:avLst/>
          </a:prstGeom>
          <a:noFill/>
          <a:ln w="6350">
            <a:solidFill>
              <a:srgbClr val="8EAABA">
                <a:alpha val="40000"/>
              </a:srgbClr>
            </a:solidFill>
            <a:prstDash val="solid"/>
          </a:ln>
        </p:spPr>
        <p:txBody>
          <a:bodyPr/>
          <a:lstStyle/>
          <a:p>
            <a:endParaRPr lang="fr-FR"/>
          </a:p>
        </p:txBody>
      </p:sp>
      <p:sp>
        <p:nvSpPr>
          <p:cNvPr id="7" name="Text 5"/>
          <p:cNvSpPr/>
          <p:nvPr/>
        </p:nvSpPr>
        <p:spPr>
          <a:xfrm>
            <a:off x="612648" y="2167128"/>
            <a:ext cx="2261616"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Endpoint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Detection &amp; Response</a:t>
            </a:r>
            <a:endParaRPr lang="en-US" sz="1200" dirty="0"/>
          </a:p>
        </p:txBody>
      </p:sp>
      <p:sp>
        <p:nvSpPr>
          <p:cNvPr id="8" name="Text 6"/>
          <p:cNvSpPr/>
          <p:nvPr/>
        </p:nvSpPr>
        <p:spPr>
          <a:xfrm>
            <a:off x="612648" y="2926080"/>
            <a:ext cx="2261616" cy="594360"/>
          </a:xfrm>
          <a:prstGeom prst="rect">
            <a:avLst/>
          </a:prstGeom>
          <a:noFill/>
          <a:ln/>
        </p:spPr>
        <p:txBody>
          <a:bodyPr wrap="square" lIns="0" tIns="0" rIns="0" bIns="0" rtlCol="0" anchor="ctr"/>
          <a:lstStyle/>
          <a:p>
            <a:pPr marL="0" indent="0" algn="ctr">
              <a:buNone/>
            </a:pPr>
            <a:r>
              <a:rPr lang="en-US" sz="1100" dirty="0">
                <a:solidFill>
                  <a:srgbClr val="8EAABA"/>
                </a:solidFill>
                <a:latin typeface="Calibri" pitchFamily="34" charset="0"/>
                <a:ea typeface="Calibri" pitchFamily="34" charset="-122"/>
                <a:cs typeface="Calibri" pitchFamily="34" charset="-120"/>
              </a:rPr>
              <a:t>Postes de travail</a:t>
            </a:r>
            <a:endParaRPr lang="en-US" sz="1100" dirty="0"/>
          </a:p>
        </p:txBody>
      </p:sp>
      <p:sp>
        <p:nvSpPr>
          <p:cNvPr id="9" name="Text 7"/>
          <p:cNvSpPr/>
          <p:nvPr/>
        </p:nvSpPr>
        <p:spPr>
          <a:xfrm>
            <a:off x="612648" y="3621024"/>
            <a:ext cx="2261616" cy="347472"/>
          </a:xfrm>
          <a:prstGeom prst="rect">
            <a:avLst/>
          </a:prstGeom>
          <a:noFill/>
          <a:ln/>
        </p:spPr>
        <p:txBody>
          <a:bodyPr wrap="square" lIns="0" tIns="0" rIns="0" bIns="0" rtlCol="0" anchor="ctr"/>
          <a:lstStyle/>
          <a:p>
            <a:pPr marL="0" indent="0" algn="ctr">
              <a:buNone/>
            </a:pPr>
            <a:r>
              <a:rPr lang="en-US" sz="1100" dirty="0">
                <a:solidFill>
                  <a:srgbClr val="8EAABA"/>
                </a:solidFill>
                <a:latin typeface="Calibri" pitchFamily="34" charset="0"/>
                <a:ea typeface="Calibri" pitchFamily="34" charset="-122"/>
                <a:cs typeface="Calibri" pitchFamily="34" charset="-120"/>
              </a:rPr>
              <a:t>PME · 1ère ligne</a:t>
            </a:r>
            <a:endParaRPr lang="en-US" sz="1100" dirty="0"/>
          </a:p>
        </p:txBody>
      </p:sp>
      <p:sp>
        <p:nvSpPr>
          <p:cNvPr id="10" name="Shape 8"/>
          <p:cNvSpPr/>
          <p:nvPr/>
        </p:nvSpPr>
        <p:spPr>
          <a:xfrm>
            <a:off x="612648" y="4041648"/>
            <a:ext cx="2261616" cy="0"/>
          </a:xfrm>
          <a:prstGeom prst="line">
            <a:avLst/>
          </a:prstGeom>
          <a:noFill/>
          <a:ln w="6350">
            <a:solidFill>
              <a:srgbClr val="8EAABA">
                <a:alpha val="40000"/>
              </a:srgbClr>
            </a:solidFill>
            <a:prstDash val="solid"/>
          </a:ln>
        </p:spPr>
        <p:txBody>
          <a:bodyPr/>
          <a:lstStyle/>
          <a:p>
            <a:endParaRPr lang="fr-FR"/>
          </a:p>
        </p:txBody>
      </p:sp>
      <p:sp>
        <p:nvSpPr>
          <p:cNvPr id="11" name="Text 9"/>
          <p:cNvSpPr/>
          <p:nvPr/>
        </p:nvSpPr>
        <p:spPr>
          <a:xfrm>
            <a:off x="612648" y="4114800"/>
            <a:ext cx="2261616" cy="548640"/>
          </a:xfrm>
          <a:prstGeom prst="rect">
            <a:avLst/>
          </a:prstGeom>
          <a:noFill/>
          <a:ln/>
        </p:spPr>
        <p:txBody>
          <a:bodyPr wrap="square" lIns="0" tIns="0" rIns="0" bIns="0" rtlCol="0" anchor="ctr"/>
          <a:lstStyle/>
          <a:p>
            <a:pPr marL="0" indent="0" algn="ctr">
              <a:buNone/>
            </a:pPr>
            <a:r>
              <a:rPr lang="en-US" sz="1000" i="1" dirty="0">
                <a:solidFill>
                  <a:srgbClr val="8EAABA"/>
                </a:solidFill>
                <a:latin typeface="Calibri" pitchFamily="34" charset="0"/>
                <a:ea typeface="Calibri" pitchFamily="34" charset="-122"/>
                <a:cs typeface="Calibri" pitchFamily="34" charset="-120"/>
              </a:rPr>
              <a:t>Microsoft Defender</a:t>
            </a:r>
            <a:endParaRPr lang="en-US" sz="1000" dirty="0"/>
          </a:p>
          <a:p>
            <a:pPr marL="0" indent="0" algn="ctr">
              <a:buNone/>
            </a:pPr>
            <a:r>
              <a:rPr lang="en-US" sz="1000" i="1" dirty="0">
                <a:solidFill>
                  <a:srgbClr val="8EAABA"/>
                </a:solidFill>
                <a:latin typeface="Calibri" pitchFamily="34" charset="0"/>
                <a:ea typeface="Calibri" pitchFamily="34" charset="-122"/>
                <a:cs typeface="Calibri" pitchFamily="34" charset="-120"/>
              </a:rPr>
              <a:t>ESET Inspect</a:t>
            </a:r>
            <a:endParaRPr lang="en-US" sz="1000" dirty="0"/>
          </a:p>
        </p:txBody>
      </p:sp>
      <p:sp>
        <p:nvSpPr>
          <p:cNvPr id="12" name="Shape 10"/>
          <p:cNvSpPr/>
          <p:nvPr/>
        </p:nvSpPr>
        <p:spPr>
          <a:xfrm>
            <a:off x="3240024" y="1298448"/>
            <a:ext cx="2663952" cy="3566160"/>
          </a:xfrm>
          <a:prstGeom prst="roundRect">
            <a:avLst>
              <a:gd name="adj" fmla="val 2746"/>
            </a:avLst>
          </a:prstGeom>
          <a:solidFill>
            <a:srgbClr val="0A2535"/>
          </a:solidFill>
          <a:ln w="25400">
            <a:solidFill>
              <a:srgbClr val="00B4D8"/>
            </a:solidFill>
            <a:prstDash val="solid"/>
          </a:ln>
          <a:effectLst>
            <a:outerShdw blurRad="101600" dist="38100" dir="2700000" algn="bl" rotWithShape="0">
              <a:srgbClr val="000000">
                <a:alpha val="22000"/>
              </a:srgbClr>
            </a:outerShdw>
          </a:effectLst>
        </p:spPr>
        <p:txBody>
          <a:bodyPr/>
          <a:lstStyle/>
          <a:p>
            <a:endParaRPr lang="fr-FR"/>
          </a:p>
        </p:txBody>
      </p:sp>
      <p:sp>
        <p:nvSpPr>
          <p:cNvPr id="13" name="Text 11"/>
          <p:cNvSpPr/>
          <p:nvPr/>
        </p:nvSpPr>
        <p:spPr>
          <a:xfrm>
            <a:off x="3441192" y="1499616"/>
            <a:ext cx="2261616" cy="502920"/>
          </a:xfrm>
          <a:prstGeom prst="rect">
            <a:avLst/>
          </a:prstGeom>
          <a:noFill/>
          <a:ln/>
        </p:spPr>
        <p:txBody>
          <a:bodyPr wrap="square" lIns="0" tIns="0" rIns="0" bIns="0"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XDR</a:t>
            </a:r>
            <a:endParaRPr lang="en-US" sz="2600" dirty="0"/>
          </a:p>
        </p:txBody>
      </p:sp>
      <p:sp>
        <p:nvSpPr>
          <p:cNvPr id="14" name="Shape 12"/>
          <p:cNvSpPr/>
          <p:nvPr/>
        </p:nvSpPr>
        <p:spPr>
          <a:xfrm>
            <a:off x="3441192" y="2103120"/>
            <a:ext cx="2261616" cy="0"/>
          </a:xfrm>
          <a:prstGeom prst="line">
            <a:avLst/>
          </a:prstGeom>
          <a:noFill/>
          <a:ln w="6350">
            <a:solidFill>
              <a:srgbClr val="00B4D8">
                <a:alpha val="40000"/>
              </a:srgbClr>
            </a:solidFill>
            <a:prstDash val="solid"/>
          </a:ln>
        </p:spPr>
        <p:txBody>
          <a:bodyPr/>
          <a:lstStyle/>
          <a:p>
            <a:endParaRPr lang="fr-FR"/>
          </a:p>
        </p:txBody>
      </p:sp>
      <p:sp>
        <p:nvSpPr>
          <p:cNvPr id="15" name="Text 13"/>
          <p:cNvSpPr/>
          <p:nvPr/>
        </p:nvSpPr>
        <p:spPr>
          <a:xfrm>
            <a:off x="3441192" y="2167128"/>
            <a:ext cx="2261616"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Extended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Detection &amp; Response</a:t>
            </a:r>
            <a:endParaRPr lang="en-US" sz="1200" dirty="0"/>
          </a:p>
        </p:txBody>
      </p:sp>
      <p:sp>
        <p:nvSpPr>
          <p:cNvPr id="16" name="Text 14"/>
          <p:cNvSpPr/>
          <p:nvPr/>
        </p:nvSpPr>
        <p:spPr>
          <a:xfrm>
            <a:off x="3441192" y="2926080"/>
            <a:ext cx="2261616" cy="594360"/>
          </a:xfrm>
          <a:prstGeom prst="rect">
            <a:avLst/>
          </a:prstGeom>
          <a:noFill/>
          <a:ln/>
        </p:spPr>
        <p:txBody>
          <a:bodyPr wrap="square" lIns="0" tIns="0" rIns="0" bIns="0" rtlCol="0" anchor="ctr"/>
          <a:lstStyle/>
          <a:p>
            <a:pPr marL="0" indent="0" algn="ctr">
              <a:buNone/>
            </a:pPr>
            <a:r>
              <a:rPr lang="en-US" sz="1100" dirty="0">
                <a:solidFill>
                  <a:srgbClr val="8EAABA"/>
                </a:solidFill>
                <a:latin typeface="Calibri" pitchFamily="34" charset="0"/>
                <a:ea typeface="Calibri" pitchFamily="34" charset="-122"/>
                <a:cs typeface="Calibri" pitchFamily="34" charset="-120"/>
              </a:rPr>
              <a:t>Réseau + Cloud</a:t>
            </a:r>
            <a:endParaRPr lang="en-US" sz="1100" dirty="0"/>
          </a:p>
          <a:p>
            <a:pPr marL="0" indent="0" algn="ctr">
              <a:buNone/>
            </a:pPr>
            <a:r>
              <a:rPr lang="en-US" sz="1100" dirty="0">
                <a:solidFill>
                  <a:srgbClr val="8EAABA"/>
                </a:solidFill>
                <a:latin typeface="Calibri" pitchFamily="34" charset="0"/>
                <a:ea typeface="Calibri" pitchFamily="34" charset="-122"/>
                <a:cs typeface="Calibri" pitchFamily="34" charset="-120"/>
              </a:rPr>
              <a:t>+ Identités + Endpoints</a:t>
            </a:r>
            <a:endParaRPr lang="en-US" sz="1100" dirty="0"/>
          </a:p>
        </p:txBody>
      </p:sp>
      <p:sp>
        <p:nvSpPr>
          <p:cNvPr id="17" name="Text 15"/>
          <p:cNvSpPr/>
          <p:nvPr/>
        </p:nvSpPr>
        <p:spPr>
          <a:xfrm>
            <a:off x="3441192" y="3621024"/>
            <a:ext cx="2261616" cy="347472"/>
          </a:xfrm>
          <a:prstGeom prst="rect">
            <a:avLst/>
          </a:prstGeom>
          <a:noFill/>
          <a:ln/>
        </p:spPr>
        <p:txBody>
          <a:bodyPr wrap="square" lIns="0" tIns="0" rIns="0" bIns="0" rtlCol="0" anchor="ctr"/>
          <a:lstStyle/>
          <a:p>
            <a:pPr marL="0" indent="0" algn="ctr">
              <a:buNone/>
            </a:pPr>
            <a:r>
              <a:rPr lang="en-US" sz="1100" dirty="0">
                <a:solidFill>
                  <a:srgbClr val="00B4D8"/>
                </a:solidFill>
                <a:latin typeface="Calibri" pitchFamily="34" charset="0"/>
                <a:ea typeface="Calibri" pitchFamily="34" charset="-122"/>
                <a:cs typeface="Calibri" pitchFamily="34" charset="-120"/>
              </a:rPr>
              <a:t>Grandes entreprises</a:t>
            </a:r>
            <a:endParaRPr lang="en-US" sz="1100" dirty="0"/>
          </a:p>
        </p:txBody>
      </p:sp>
      <p:sp>
        <p:nvSpPr>
          <p:cNvPr id="18" name="Shape 16"/>
          <p:cNvSpPr/>
          <p:nvPr/>
        </p:nvSpPr>
        <p:spPr>
          <a:xfrm>
            <a:off x="3441192" y="4041648"/>
            <a:ext cx="2261616" cy="0"/>
          </a:xfrm>
          <a:prstGeom prst="line">
            <a:avLst/>
          </a:prstGeom>
          <a:noFill/>
          <a:ln w="6350">
            <a:solidFill>
              <a:srgbClr val="00B4D8">
                <a:alpha val="40000"/>
              </a:srgbClr>
            </a:solidFill>
            <a:prstDash val="solid"/>
          </a:ln>
        </p:spPr>
        <p:txBody>
          <a:bodyPr/>
          <a:lstStyle/>
          <a:p>
            <a:endParaRPr lang="fr-FR"/>
          </a:p>
        </p:txBody>
      </p:sp>
      <p:sp>
        <p:nvSpPr>
          <p:cNvPr id="19" name="Text 17"/>
          <p:cNvSpPr/>
          <p:nvPr/>
        </p:nvSpPr>
        <p:spPr>
          <a:xfrm>
            <a:off x="3441192" y="4114800"/>
            <a:ext cx="2261616" cy="548640"/>
          </a:xfrm>
          <a:prstGeom prst="rect">
            <a:avLst/>
          </a:prstGeom>
          <a:noFill/>
          <a:ln/>
        </p:spPr>
        <p:txBody>
          <a:bodyPr wrap="square" lIns="0" tIns="0" rIns="0" bIns="0" rtlCol="0" anchor="ctr"/>
          <a:lstStyle/>
          <a:p>
            <a:pPr marL="0" indent="0" algn="ctr">
              <a:buNone/>
            </a:pPr>
            <a:r>
              <a:rPr lang="en-US" sz="1000" i="1" dirty="0">
                <a:solidFill>
                  <a:srgbClr val="8EAABA"/>
                </a:solidFill>
                <a:latin typeface="Calibri" pitchFamily="34" charset="0"/>
                <a:ea typeface="Calibri" pitchFamily="34" charset="-122"/>
                <a:cs typeface="Calibri" pitchFamily="34" charset="-120"/>
              </a:rPr>
              <a:t>CrowdStrike Falcon</a:t>
            </a:r>
            <a:endParaRPr lang="en-US" sz="1000" dirty="0"/>
          </a:p>
          <a:p>
            <a:pPr marL="0" indent="0" algn="ctr">
              <a:buNone/>
            </a:pPr>
            <a:r>
              <a:rPr lang="en-US" sz="1000" i="1" dirty="0">
                <a:solidFill>
                  <a:srgbClr val="8EAABA"/>
                </a:solidFill>
                <a:latin typeface="Calibri" pitchFamily="34" charset="0"/>
                <a:ea typeface="Calibri" pitchFamily="34" charset="-122"/>
                <a:cs typeface="Calibri" pitchFamily="34" charset="-120"/>
              </a:rPr>
              <a:t>Trend Vision One</a:t>
            </a:r>
            <a:endParaRPr lang="en-US" sz="1000" dirty="0"/>
          </a:p>
        </p:txBody>
      </p:sp>
      <p:sp>
        <p:nvSpPr>
          <p:cNvPr id="20" name="Shape 18"/>
          <p:cNvSpPr/>
          <p:nvPr/>
        </p:nvSpPr>
        <p:spPr>
          <a:xfrm>
            <a:off x="6068568" y="1298448"/>
            <a:ext cx="2663952" cy="3566160"/>
          </a:xfrm>
          <a:prstGeom prst="roundRect">
            <a:avLst>
              <a:gd name="adj" fmla="val 2746"/>
            </a:avLst>
          </a:prstGeom>
          <a:solidFill>
            <a:srgbClr val="0D1B2A"/>
          </a:solidFill>
          <a:ln w="12700">
            <a:solidFill>
              <a:srgbClr val="5E9CA0"/>
            </a:solidFill>
            <a:prstDash val="solid"/>
          </a:ln>
          <a:effectLst>
            <a:outerShdw blurRad="101600" dist="38100" dir="2700000" algn="bl" rotWithShape="0">
              <a:srgbClr val="000000">
                <a:alpha val="22000"/>
              </a:srgbClr>
            </a:outerShdw>
          </a:effectLst>
        </p:spPr>
        <p:txBody>
          <a:bodyPr/>
          <a:lstStyle/>
          <a:p>
            <a:endParaRPr lang="fr-FR"/>
          </a:p>
        </p:txBody>
      </p:sp>
      <p:sp>
        <p:nvSpPr>
          <p:cNvPr id="21" name="Text 19"/>
          <p:cNvSpPr/>
          <p:nvPr/>
        </p:nvSpPr>
        <p:spPr>
          <a:xfrm>
            <a:off x="6269736" y="1499616"/>
            <a:ext cx="2261616" cy="502920"/>
          </a:xfrm>
          <a:prstGeom prst="rect">
            <a:avLst/>
          </a:prstGeom>
          <a:noFill/>
          <a:ln/>
        </p:spPr>
        <p:txBody>
          <a:bodyPr wrap="square" lIns="0" tIns="0" rIns="0" bIns="0" rtlCol="0" anchor="ctr"/>
          <a:lstStyle/>
          <a:p>
            <a:pPr marL="0" indent="0" algn="ctr">
              <a:buNone/>
            </a:pPr>
            <a:r>
              <a:rPr lang="en-US" sz="2600" b="1" dirty="0">
                <a:solidFill>
                  <a:srgbClr val="5E9CA0"/>
                </a:solidFill>
                <a:latin typeface="Calibri" pitchFamily="34" charset="0"/>
                <a:ea typeface="Calibri" pitchFamily="34" charset="-122"/>
                <a:cs typeface="Calibri" pitchFamily="34" charset="-120"/>
              </a:rPr>
              <a:t>MDR</a:t>
            </a:r>
            <a:endParaRPr lang="en-US" sz="2600" dirty="0"/>
          </a:p>
        </p:txBody>
      </p:sp>
      <p:sp>
        <p:nvSpPr>
          <p:cNvPr id="22" name="Shape 20"/>
          <p:cNvSpPr/>
          <p:nvPr/>
        </p:nvSpPr>
        <p:spPr>
          <a:xfrm>
            <a:off x="6269736" y="2103120"/>
            <a:ext cx="2261616" cy="0"/>
          </a:xfrm>
          <a:prstGeom prst="line">
            <a:avLst/>
          </a:prstGeom>
          <a:noFill/>
          <a:ln w="6350">
            <a:solidFill>
              <a:srgbClr val="5E9CA0">
                <a:alpha val="40000"/>
              </a:srgbClr>
            </a:solidFill>
            <a:prstDash val="solid"/>
          </a:ln>
        </p:spPr>
        <p:txBody>
          <a:bodyPr/>
          <a:lstStyle/>
          <a:p>
            <a:endParaRPr lang="fr-FR"/>
          </a:p>
        </p:txBody>
      </p:sp>
      <p:sp>
        <p:nvSpPr>
          <p:cNvPr id="23" name="Text 21"/>
          <p:cNvSpPr/>
          <p:nvPr/>
        </p:nvSpPr>
        <p:spPr>
          <a:xfrm>
            <a:off x="6269736" y="2167128"/>
            <a:ext cx="2261616"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Managed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Detection &amp; Response</a:t>
            </a:r>
            <a:endParaRPr lang="en-US" sz="1200" dirty="0"/>
          </a:p>
        </p:txBody>
      </p:sp>
      <p:sp>
        <p:nvSpPr>
          <p:cNvPr id="24" name="Text 22"/>
          <p:cNvSpPr/>
          <p:nvPr/>
        </p:nvSpPr>
        <p:spPr>
          <a:xfrm>
            <a:off x="6269736" y="2926080"/>
            <a:ext cx="2261616" cy="594360"/>
          </a:xfrm>
          <a:prstGeom prst="rect">
            <a:avLst/>
          </a:prstGeom>
          <a:noFill/>
          <a:ln/>
        </p:spPr>
        <p:txBody>
          <a:bodyPr wrap="square" lIns="0" tIns="0" rIns="0" bIns="0" rtlCol="0" anchor="ctr"/>
          <a:lstStyle/>
          <a:p>
            <a:pPr marL="0" indent="0" algn="ctr">
              <a:buNone/>
            </a:pPr>
            <a:r>
              <a:rPr lang="en-US" sz="1100" dirty="0">
                <a:solidFill>
                  <a:srgbClr val="8EAABA"/>
                </a:solidFill>
                <a:latin typeface="Calibri" pitchFamily="34" charset="0"/>
                <a:ea typeface="Calibri" pitchFamily="34" charset="-122"/>
                <a:cs typeface="Calibri" pitchFamily="34" charset="-120"/>
              </a:rPr>
              <a:t>XDR + SOC externalisé</a:t>
            </a:r>
            <a:endParaRPr lang="en-US" sz="1100" dirty="0"/>
          </a:p>
          <a:p>
            <a:pPr marL="0" indent="0" algn="ctr">
              <a:buNone/>
            </a:pPr>
            <a:r>
              <a:rPr lang="en-US" sz="1100" dirty="0">
                <a:solidFill>
                  <a:srgbClr val="8EAABA"/>
                </a:solidFill>
                <a:latin typeface="Calibri" pitchFamily="34" charset="0"/>
                <a:ea typeface="Calibri" pitchFamily="34" charset="-122"/>
                <a:cs typeface="Calibri" pitchFamily="34" charset="-120"/>
              </a:rPr>
              <a:t>24h/7j</a:t>
            </a:r>
            <a:endParaRPr lang="en-US" sz="1100" dirty="0"/>
          </a:p>
        </p:txBody>
      </p:sp>
      <p:sp>
        <p:nvSpPr>
          <p:cNvPr id="25" name="Text 23"/>
          <p:cNvSpPr/>
          <p:nvPr/>
        </p:nvSpPr>
        <p:spPr>
          <a:xfrm>
            <a:off x="6269736" y="3621024"/>
            <a:ext cx="2261616" cy="347472"/>
          </a:xfrm>
          <a:prstGeom prst="rect">
            <a:avLst/>
          </a:prstGeom>
          <a:noFill/>
          <a:ln/>
        </p:spPr>
        <p:txBody>
          <a:bodyPr wrap="square" lIns="0" tIns="0" rIns="0" bIns="0" rtlCol="0" anchor="ctr"/>
          <a:lstStyle/>
          <a:p>
            <a:pPr marL="0" indent="0" algn="ctr">
              <a:buNone/>
            </a:pPr>
            <a:r>
              <a:rPr lang="en-US" sz="1100" dirty="0">
                <a:solidFill>
                  <a:srgbClr val="5E9CA0"/>
                </a:solidFill>
                <a:latin typeface="Calibri" pitchFamily="34" charset="0"/>
                <a:ea typeface="Calibri" pitchFamily="34" charset="-122"/>
                <a:cs typeface="Calibri" pitchFamily="34" charset="-120"/>
              </a:rPr>
              <a:t>Sans équipe sécu interne</a:t>
            </a:r>
            <a:endParaRPr lang="en-US" sz="1100" dirty="0"/>
          </a:p>
        </p:txBody>
      </p:sp>
      <p:sp>
        <p:nvSpPr>
          <p:cNvPr id="26" name="Shape 24"/>
          <p:cNvSpPr/>
          <p:nvPr/>
        </p:nvSpPr>
        <p:spPr>
          <a:xfrm>
            <a:off x="6269736" y="4041648"/>
            <a:ext cx="2261616" cy="0"/>
          </a:xfrm>
          <a:prstGeom prst="line">
            <a:avLst/>
          </a:prstGeom>
          <a:noFill/>
          <a:ln w="6350">
            <a:solidFill>
              <a:srgbClr val="5E9CA0">
                <a:alpha val="40000"/>
              </a:srgbClr>
            </a:solidFill>
            <a:prstDash val="solid"/>
          </a:ln>
        </p:spPr>
        <p:txBody>
          <a:bodyPr/>
          <a:lstStyle/>
          <a:p>
            <a:endParaRPr lang="fr-FR"/>
          </a:p>
        </p:txBody>
      </p:sp>
      <p:sp>
        <p:nvSpPr>
          <p:cNvPr id="27" name="Text 25"/>
          <p:cNvSpPr/>
          <p:nvPr/>
        </p:nvSpPr>
        <p:spPr>
          <a:xfrm>
            <a:off x="6269736" y="4114800"/>
            <a:ext cx="2261616" cy="548640"/>
          </a:xfrm>
          <a:prstGeom prst="rect">
            <a:avLst/>
          </a:prstGeom>
          <a:noFill/>
          <a:ln/>
        </p:spPr>
        <p:txBody>
          <a:bodyPr wrap="square" lIns="0" tIns="0" rIns="0" bIns="0" rtlCol="0" anchor="ctr"/>
          <a:lstStyle/>
          <a:p>
            <a:pPr marL="0" indent="0" algn="ctr">
              <a:buNone/>
            </a:pPr>
            <a:r>
              <a:rPr lang="en-US" sz="1000" i="1" dirty="0">
                <a:solidFill>
                  <a:srgbClr val="8EAABA"/>
                </a:solidFill>
                <a:latin typeface="Calibri" pitchFamily="34" charset="0"/>
                <a:ea typeface="Calibri" pitchFamily="34" charset="-122"/>
                <a:cs typeface="Calibri" pitchFamily="34" charset="-120"/>
              </a:rPr>
              <a:t>Sophos MDR</a:t>
            </a:r>
            <a:endParaRPr lang="en-US" sz="1000" dirty="0"/>
          </a:p>
          <a:p>
            <a:pPr marL="0" indent="0" algn="ctr">
              <a:buNone/>
            </a:pPr>
            <a:r>
              <a:rPr lang="en-US" sz="1000" i="1" dirty="0">
                <a:solidFill>
                  <a:srgbClr val="8EAABA"/>
                </a:solidFill>
                <a:latin typeface="Calibri" pitchFamily="34" charset="0"/>
                <a:ea typeface="Calibri" pitchFamily="34" charset="-122"/>
                <a:cs typeface="Calibri" pitchFamily="34" charset="-120"/>
              </a:rPr>
              <a:t>CrowdStrike Complete</a:t>
            </a:r>
            <a:endParaRPr lang="en-US" sz="1000" dirty="0"/>
          </a:p>
        </p:txBody>
      </p:sp>
      <p:sp>
        <p:nvSpPr>
          <p:cNvPr id="28" name="Text 26"/>
          <p:cNvSpPr/>
          <p:nvPr/>
        </p:nvSpPr>
        <p:spPr>
          <a:xfrm>
            <a:off x="411480" y="4919472"/>
            <a:ext cx="8321040" cy="182880"/>
          </a:xfrm>
          <a:prstGeom prst="rect">
            <a:avLst/>
          </a:prstGeom>
          <a:noFill/>
          <a:ln/>
        </p:spPr>
        <p:txBody>
          <a:bodyPr wrap="square" lIns="0" tIns="0" rIns="0" bIns="0" rtlCol="0" anchor="ctr"/>
          <a:lstStyle/>
          <a:p>
            <a:pPr marL="0" indent="0" algn="l">
              <a:buNone/>
            </a:pPr>
            <a:r>
              <a:rPr lang="en-US" sz="900" dirty="0">
                <a:solidFill>
                  <a:srgbClr val="8EAABA"/>
                </a:solidFill>
                <a:latin typeface="Calibri" pitchFamily="34" charset="0"/>
                <a:ea typeface="Calibri" pitchFamily="34" charset="-122"/>
                <a:cs typeface="Calibri" pitchFamily="34" charset="-120"/>
              </a:rPr>
              <a:t>Sources : WeLiveSecurity (ESET), 4 mars 2026  ·  LeMagIT, 11 mars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80F"/>
        </a:solidFill>
        <a:effectLst/>
      </p:bgPr>
    </p:bg>
    <p:spTree>
      <p:nvGrpSpPr>
        <p:cNvPr id="1" name=""/>
        <p:cNvGrpSpPr/>
        <p:nvPr/>
      </p:nvGrpSpPr>
      <p:grpSpPr>
        <a:xfrm>
          <a:off x="0" y="0"/>
          <a:ext cx="0" cy="0"/>
          <a:chOff x="0" y="0"/>
          <a:chExt cx="0" cy="0"/>
        </a:xfrm>
      </p:grpSpPr>
      <p:sp>
        <p:nvSpPr>
          <p:cNvPr id="2" name="Text 0"/>
          <p:cNvSpPr/>
          <p:nvPr/>
        </p:nvSpPr>
        <p:spPr>
          <a:xfrm>
            <a:off x="411480" y="256032"/>
            <a:ext cx="8321040" cy="237744"/>
          </a:xfrm>
          <a:prstGeom prst="rect">
            <a:avLst/>
          </a:prstGeom>
          <a:noFill/>
          <a:ln/>
        </p:spPr>
        <p:txBody>
          <a:bodyPr wrap="square" lIns="0" tIns="0" rIns="0" bIns="0" rtlCol="0" anchor="ctr"/>
          <a:lstStyle/>
          <a:p>
            <a:pPr marL="0" indent="0" algn="l">
              <a:buNone/>
            </a:pPr>
            <a:r>
              <a:rPr lang="en-US" sz="1000" kern="0" spc="400" dirty="0">
                <a:solidFill>
                  <a:srgbClr val="00B4D8"/>
                </a:solidFill>
                <a:latin typeface="Calibri" pitchFamily="34" charset="0"/>
                <a:ea typeface="Calibri" pitchFamily="34" charset="-122"/>
                <a:cs typeface="Calibri" pitchFamily="34" charset="-120"/>
              </a:rPr>
              <a:t>03 · ACTUALITÉ DU MARCHÉ</a:t>
            </a:r>
            <a:endParaRPr lang="en-US" sz="1000" dirty="0"/>
          </a:p>
        </p:txBody>
      </p:sp>
      <p:sp>
        <p:nvSpPr>
          <p:cNvPr id="3" name="Text 1"/>
          <p:cNvSpPr/>
          <p:nvPr/>
        </p:nvSpPr>
        <p:spPr>
          <a:xfrm>
            <a:off x="411480" y="566928"/>
            <a:ext cx="832104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L'XDR en 2026 — 4 signaux</a:t>
            </a:r>
            <a:endParaRPr lang="en-US" sz="3000" dirty="0"/>
          </a:p>
        </p:txBody>
      </p:sp>
      <p:sp>
        <p:nvSpPr>
          <p:cNvPr id="4" name="Shape 2"/>
          <p:cNvSpPr/>
          <p:nvPr/>
        </p:nvSpPr>
        <p:spPr>
          <a:xfrm>
            <a:off x="411480" y="1298448"/>
            <a:ext cx="4069080" cy="1664208"/>
          </a:xfrm>
          <a:prstGeom prst="roundRect">
            <a:avLst>
              <a:gd name="adj" fmla="val 3846"/>
            </a:avLst>
          </a:prstGeom>
          <a:solidFill>
            <a:srgbClr val="0D1B2A"/>
          </a:solidFill>
          <a:ln w="12700">
            <a:solidFill>
              <a:srgbClr val="1A3040"/>
            </a:solidFill>
            <a:prstDash val="solid"/>
          </a:ln>
          <a:effectLst>
            <a:outerShdw blurRad="101600" dist="38100" dir="2700000" algn="bl" rotWithShape="0">
              <a:srgbClr val="000000">
                <a:alpha val="22000"/>
              </a:srgbClr>
            </a:outerShdw>
          </a:effectLst>
        </p:spPr>
        <p:txBody>
          <a:bodyPr/>
          <a:lstStyle/>
          <a:p>
            <a:endParaRPr lang="fr-FR"/>
          </a:p>
        </p:txBody>
      </p:sp>
      <p:sp>
        <p:nvSpPr>
          <p:cNvPr id="5" name="Shape 3"/>
          <p:cNvSpPr/>
          <p:nvPr/>
        </p:nvSpPr>
        <p:spPr>
          <a:xfrm>
            <a:off x="576072" y="1463040"/>
            <a:ext cx="749808" cy="1335024"/>
          </a:xfrm>
          <a:prstGeom prst="roundRect">
            <a:avLst>
              <a:gd name="adj" fmla="val 6098"/>
            </a:avLst>
          </a:prstGeom>
          <a:solidFill>
            <a:srgbClr val="04080F">
              <a:alpha val="60000"/>
            </a:srgbClr>
          </a:solidFill>
          <a:ln w="12700">
            <a:solidFill>
              <a:srgbClr val="04080F"/>
            </a:solidFill>
            <a:prstDash val="solid"/>
          </a:ln>
        </p:spPr>
        <p:txBody>
          <a:bodyPr/>
          <a:lstStyle/>
          <a:p>
            <a:endParaRPr lang="fr-FR"/>
          </a:p>
        </p:txBody>
      </p:sp>
      <p:sp>
        <p:nvSpPr>
          <p:cNvPr id="6" name="Text 4"/>
          <p:cNvSpPr/>
          <p:nvPr/>
        </p:nvSpPr>
        <p:spPr>
          <a:xfrm>
            <a:off x="576072" y="1463040"/>
            <a:ext cx="749808" cy="1335024"/>
          </a:xfrm>
          <a:prstGeom prst="rect">
            <a:avLst/>
          </a:prstGeom>
          <a:noFill/>
          <a:ln/>
        </p:spPr>
        <p:txBody>
          <a:bodyPr wrap="square" lIns="0" tIns="0" rIns="0" bIns="0" rtlCol="0" anchor="ctr"/>
          <a:lstStyle/>
          <a:p>
            <a:pPr marL="0" indent="0" algn="ctr">
              <a:buNone/>
            </a:pPr>
            <a:r>
              <a:rPr lang="en-US" sz="3000" b="1" dirty="0">
                <a:solidFill>
                  <a:srgbClr val="4ADEAB"/>
                </a:solidFill>
                <a:latin typeface="Calibri" pitchFamily="34" charset="0"/>
                <a:ea typeface="Calibri" pitchFamily="34" charset="-122"/>
                <a:cs typeface="Calibri" pitchFamily="34" charset="-120"/>
              </a:rPr>
              <a:t>↘</a:t>
            </a:r>
            <a:endParaRPr lang="en-US" sz="3000" dirty="0"/>
          </a:p>
        </p:txBody>
      </p:sp>
      <p:sp>
        <p:nvSpPr>
          <p:cNvPr id="7" name="Text 5"/>
          <p:cNvSpPr/>
          <p:nvPr/>
        </p:nvSpPr>
        <p:spPr>
          <a:xfrm>
            <a:off x="1463040" y="1463040"/>
            <a:ext cx="2852928"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Incidents critiques en recul</a:t>
            </a:r>
            <a:endParaRPr lang="en-US" sz="1300" dirty="0"/>
          </a:p>
        </p:txBody>
      </p:sp>
      <p:sp>
        <p:nvSpPr>
          <p:cNvPr id="8" name="Shape 6"/>
          <p:cNvSpPr/>
          <p:nvPr/>
        </p:nvSpPr>
        <p:spPr>
          <a:xfrm>
            <a:off x="1463040" y="1847088"/>
            <a:ext cx="2852928" cy="0"/>
          </a:xfrm>
          <a:prstGeom prst="line">
            <a:avLst/>
          </a:prstGeom>
          <a:noFill/>
          <a:ln w="6350">
            <a:solidFill>
              <a:srgbClr val="4ADEAB">
                <a:alpha val="50000"/>
              </a:srgbClr>
            </a:solidFill>
            <a:prstDash val="solid"/>
          </a:ln>
        </p:spPr>
        <p:txBody>
          <a:bodyPr/>
          <a:lstStyle/>
          <a:p>
            <a:endParaRPr lang="fr-FR"/>
          </a:p>
        </p:txBody>
      </p:sp>
      <p:sp>
        <p:nvSpPr>
          <p:cNvPr id="9" name="Text 7"/>
          <p:cNvSpPr/>
          <p:nvPr/>
        </p:nvSpPr>
        <p:spPr>
          <a:xfrm>
            <a:off x="1463040" y="1920240"/>
            <a:ext cx="2852928" cy="749808"/>
          </a:xfrm>
          <a:prstGeom prst="rect">
            <a:avLst/>
          </a:prstGeom>
          <a:noFill/>
          <a:ln/>
        </p:spPr>
        <p:txBody>
          <a:bodyPr wrap="square" lIns="0" tIns="0" rIns="0" bIns="0" rtlCol="0" anchor="ctr"/>
          <a:lstStyle/>
          <a:p>
            <a:pPr marL="0" indent="0" algn="l">
              <a:buNone/>
            </a:pPr>
            <a:r>
              <a:rPr lang="en-US" sz="1050" dirty="0">
                <a:solidFill>
                  <a:srgbClr val="8EAABA"/>
                </a:solidFill>
                <a:latin typeface="Calibri" pitchFamily="34" charset="0"/>
                <a:ea typeface="Calibri" pitchFamily="34" charset="-122"/>
                <a:cs typeface="Calibri" pitchFamily="34" charset="-120"/>
              </a:rPr>
              <a:t>Kaspersky observe une baisse des attaques majeures corrélée à l'adoption de l'XDR — MTTD et MTTR en nette amélioration.</a:t>
            </a:r>
            <a:endParaRPr lang="en-US" sz="1050" dirty="0"/>
          </a:p>
        </p:txBody>
      </p:sp>
      <p:sp>
        <p:nvSpPr>
          <p:cNvPr id="10" name="Text 8"/>
          <p:cNvSpPr/>
          <p:nvPr/>
        </p:nvSpPr>
        <p:spPr>
          <a:xfrm>
            <a:off x="1463040" y="2596896"/>
            <a:ext cx="2852928" cy="201168"/>
          </a:xfrm>
          <a:prstGeom prst="rect">
            <a:avLst/>
          </a:prstGeom>
          <a:noFill/>
          <a:ln/>
        </p:spPr>
        <p:txBody>
          <a:bodyPr wrap="square" lIns="0" tIns="0" rIns="0" bIns="0" rtlCol="0" anchor="ctr"/>
          <a:lstStyle/>
          <a:p>
            <a:pPr marL="0" indent="0" algn="l">
              <a:buNone/>
            </a:pPr>
            <a:r>
              <a:rPr lang="en-US" sz="900" i="1" dirty="0">
                <a:solidFill>
                  <a:srgbClr val="4ADEAB"/>
                </a:solidFill>
                <a:latin typeface="Calibri" pitchFamily="34" charset="0"/>
                <a:ea typeface="Calibri" pitchFamily="34" charset="-122"/>
                <a:cs typeface="Calibri" pitchFamily="34" charset="-120"/>
              </a:rPr>
              <a:t>L'Informaticien · avr. 2026</a:t>
            </a:r>
            <a:endParaRPr lang="en-US" sz="900" dirty="0"/>
          </a:p>
        </p:txBody>
      </p:sp>
      <p:sp>
        <p:nvSpPr>
          <p:cNvPr id="11" name="Shape 9"/>
          <p:cNvSpPr/>
          <p:nvPr/>
        </p:nvSpPr>
        <p:spPr>
          <a:xfrm>
            <a:off x="4663440" y="1298448"/>
            <a:ext cx="4069080" cy="1664208"/>
          </a:xfrm>
          <a:prstGeom prst="roundRect">
            <a:avLst>
              <a:gd name="adj" fmla="val 3846"/>
            </a:avLst>
          </a:prstGeom>
          <a:solidFill>
            <a:srgbClr val="0D1B2A"/>
          </a:solidFill>
          <a:ln w="12700">
            <a:solidFill>
              <a:srgbClr val="1A3040"/>
            </a:solidFill>
            <a:prstDash val="solid"/>
          </a:ln>
          <a:effectLst>
            <a:outerShdw blurRad="101600" dist="38100" dir="2700000" algn="bl" rotWithShape="0">
              <a:srgbClr val="000000">
                <a:alpha val="22000"/>
              </a:srgbClr>
            </a:outerShdw>
          </a:effectLst>
        </p:spPr>
        <p:txBody>
          <a:bodyPr/>
          <a:lstStyle/>
          <a:p>
            <a:endParaRPr lang="fr-FR"/>
          </a:p>
        </p:txBody>
      </p:sp>
      <p:sp>
        <p:nvSpPr>
          <p:cNvPr id="12" name="Shape 10"/>
          <p:cNvSpPr/>
          <p:nvPr/>
        </p:nvSpPr>
        <p:spPr>
          <a:xfrm>
            <a:off x="4828032" y="1463040"/>
            <a:ext cx="749808" cy="1335024"/>
          </a:xfrm>
          <a:prstGeom prst="roundRect">
            <a:avLst>
              <a:gd name="adj" fmla="val 6098"/>
            </a:avLst>
          </a:prstGeom>
          <a:solidFill>
            <a:srgbClr val="04080F">
              <a:alpha val="60000"/>
            </a:srgbClr>
          </a:solidFill>
          <a:ln w="12700">
            <a:solidFill>
              <a:srgbClr val="04080F"/>
            </a:solidFill>
            <a:prstDash val="solid"/>
          </a:ln>
        </p:spPr>
        <p:txBody>
          <a:bodyPr/>
          <a:lstStyle/>
          <a:p>
            <a:endParaRPr lang="fr-FR"/>
          </a:p>
        </p:txBody>
      </p:sp>
      <p:sp>
        <p:nvSpPr>
          <p:cNvPr id="13" name="Text 11"/>
          <p:cNvSpPr/>
          <p:nvPr/>
        </p:nvSpPr>
        <p:spPr>
          <a:xfrm>
            <a:off x="4828032" y="1463040"/>
            <a:ext cx="749808" cy="1335024"/>
          </a:xfrm>
          <a:prstGeom prst="rect">
            <a:avLst/>
          </a:prstGeom>
          <a:noFill/>
          <a:ln/>
        </p:spPr>
        <p:txBody>
          <a:bodyPr wrap="square" lIns="0" tIns="0" rIns="0" bIns="0"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÷2</a:t>
            </a:r>
            <a:endParaRPr lang="en-US" sz="3000" dirty="0"/>
          </a:p>
        </p:txBody>
      </p:sp>
      <p:sp>
        <p:nvSpPr>
          <p:cNvPr id="14" name="Text 12"/>
          <p:cNvSpPr/>
          <p:nvPr/>
        </p:nvSpPr>
        <p:spPr>
          <a:xfrm>
            <a:off x="5715000" y="1463040"/>
            <a:ext cx="2852928"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Consolidation chez WEX</a:t>
            </a:r>
            <a:endParaRPr lang="en-US" sz="1300" dirty="0"/>
          </a:p>
        </p:txBody>
      </p:sp>
      <p:sp>
        <p:nvSpPr>
          <p:cNvPr id="15" name="Shape 13"/>
          <p:cNvSpPr/>
          <p:nvPr/>
        </p:nvSpPr>
        <p:spPr>
          <a:xfrm>
            <a:off x="5715000" y="1847088"/>
            <a:ext cx="2852928" cy="0"/>
          </a:xfrm>
          <a:prstGeom prst="line">
            <a:avLst/>
          </a:prstGeom>
          <a:noFill/>
          <a:ln w="6350">
            <a:solidFill>
              <a:srgbClr val="00B4D8">
                <a:alpha val="50000"/>
              </a:srgbClr>
            </a:solidFill>
            <a:prstDash val="solid"/>
          </a:ln>
        </p:spPr>
        <p:txBody>
          <a:bodyPr/>
          <a:lstStyle/>
          <a:p>
            <a:endParaRPr lang="fr-FR"/>
          </a:p>
        </p:txBody>
      </p:sp>
      <p:sp>
        <p:nvSpPr>
          <p:cNvPr id="16" name="Text 14"/>
          <p:cNvSpPr/>
          <p:nvPr/>
        </p:nvSpPr>
        <p:spPr>
          <a:xfrm>
            <a:off x="5715000" y="1920240"/>
            <a:ext cx="2852928" cy="749808"/>
          </a:xfrm>
          <a:prstGeom prst="rect">
            <a:avLst/>
          </a:prstGeom>
          <a:noFill/>
          <a:ln/>
        </p:spPr>
        <p:txBody>
          <a:bodyPr wrap="square" lIns="0" tIns="0" rIns="0" bIns="0" rtlCol="0" anchor="ctr"/>
          <a:lstStyle/>
          <a:p>
            <a:pPr marL="0" indent="0" algn="l">
              <a:buNone/>
            </a:pPr>
            <a:r>
              <a:rPr lang="en-US" sz="1050" dirty="0">
                <a:solidFill>
                  <a:srgbClr val="8EAABA"/>
                </a:solidFill>
                <a:latin typeface="Calibri" pitchFamily="34" charset="0"/>
                <a:ea typeface="Calibri" pitchFamily="34" charset="-122"/>
                <a:cs typeface="Calibri" pitchFamily="34" charset="-120"/>
              </a:rPr>
              <a:t>La fintech WEX a divisé par deux sa pile d'outils sécurité en migrant sur CrowdStrike Falcon XDR — tendance 'platform consolidation'.</a:t>
            </a:r>
            <a:endParaRPr lang="en-US" sz="1050" dirty="0"/>
          </a:p>
        </p:txBody>
      </p:sp>
      <p:sp>
        <p:nvSpPr>
          <p:cNvPr id="17" name="Text 15"/>
          <p:cNvSpPr/>
          <p:nvPr/>
        </p:nvSpPr>
        <p:spPr>
          <a:xfrm>
            <a:off x="5715000" y="2596896"/>
            <a:ext cx="2852928" cy="201168"/>
          </a:xfrm>
          <a:prstGeom prst="rect">
            <a:avLst/>
          </a:prstGeom>
          <a:noFill/>
          <a:ln/>
        </p:spPr>
        <p:txBody>
          <a:bodyPr wrap="square" lIns="0" tIns="0" rIns="0" bIns="0" rtlCol="0" anchor="ctr"/>
          <a:lstStyle/>
          <a:p>
            <a:pPr marL="0" indent="0" algn="l">
              <a:buNone/>
            </a:pPr>
            <a:r>
              <a:rPr lang="en-US" sz="900" i="1" dirty="0">
                <a:solidFill>
                  <a:srgbClr val="00B4D8"/>
                </a:solidFill>
                <a:latin typeface="Calibri" pitchFamily="34" charset="0"/>
                <a:ea typeface="Calibri" pitchFamily="34" charset="-122"/>
                <a:cs typeface="Calibri" pitchFamily="34" charset="-120"/>
              </a:rPr>
              <a:t>CrowdStrike · mai 2026</a:t>
            </a:r>
            <a:endParaRPr lang="en-US" sz="900" dirty="0"/>
          </a:p>
        </p:txBody>
      </p:sp>
      <p:sp>
        <p:nvSpPr>
          <p:cNvPr id="18" name="Shape 16"/>
          <p:cNvSpPr/>
          <p:nvPr/>
        </p:nvSpPr>
        <p:spPr>
          <a:xfrm>
            <a:off x="411480" y="3145536"/>
            <a:ext cx="4069080" cy="1664208"/>
          </a:xfrm>
          <a:prstGeom prst="roundRect">
            <a:avLst>
              <a:gd name="adj" fmla="val 3846"/>
            </a:avLst>
          </a:prstGeom>
          <a:solidFill>
            <a:srgbClr val="0D1B2A"/>
          </a:solidFill>
          <a:ln w="12700">
            <a:solidFill>
              <a:srgbClr val="1A3040"/>
            </a:solidFill>
            <a:prstDash val="solid"/>
          </a:ln>
          <a:effectLst>
            <a:outerShdw blurRad="101600" dist="38100" dir="2700000" algn="bl" rotWithShape="0">
              <a:srgbClr val="000000">
                <a:alpha val="22000"/>
              </a:srgbClr>
            </a:outerShdw>
          </a:effectLst>
        </p:spPr>
        <p:txBody>
          <a:bodyPr/>
          <a:lstStyle/>
          <a:p>
            <a:endParaRPr lang="fr-FR"/>
          </a:p>
        </p:txBody>
      </p:sp>
      <p:sp>
        <p:nvSpPr>
          <p:cNvPr id="19" name="Shape 17"/>
          <p:cNvSpPr/>
          <p:nvPr/>
        </p:nvSpPr>
        <p:spPr>
          <a:xfrm>
            <a:off x="576072" y="3310128"/>
            <a:ext cx="749808" cy="1335024"/>
          </a:xfrm>
          <a:prstGeom prst="roundRect">
            <a:avLst>
              <a:gd name="adj" fmla="val 6098"/>
            </a:avLst>
          </a:prstGeom>
          <a:solidFill>
            <a:srgbClr val="04080F">
              <a:alpha val="60000"/>
            </a:srgbClr>
          </a:solidFill>
          <a:ln w="12700">
            <a:solidFill>
              <a:srgbClr val="04080F"/>
            </a:solidFill>
            <a:prstDash val="solid"/>
          </a:ln>
        </p:spPr>
        <p:txBody>
          <a:bodyPr/>
          <a:lstStyle/>
          <a:p>
            <a:endParaRPr lang="fr-FR"/>
          </a:p>
        </p:txBody>
      </p:sp>
      <p:sp>
        <p:nvSpPr>
          <p:cNvPr id="20" name="Text 18"/>
          <p:cNvSpPr/>
          <p:nvPr/>
        </p:nvSpPr>
        <p:spPr>
          <a:xfrm>
            <a:off x="576072" y="3310128"/>
            <a:ext cx="749808" cy="1335024"/>
          </a:xfrm>
          <a:prstGeom prst="rect">
            <a:avLst/>
          </a:prstGeom>
          <a:noFill/>
          <a:ln/>
        </p:spPr>
        <p:txBody>
          <a:bodyPr wrap="square" lIns="0" tIns="0" rIns="0" bIns="0" rtlCol="0" anchor="ctr"/>
          <a:lstStyle/>
          <a:p>
            <a:pPr marL="0" indent="0" algn="ctr">
              <a:buNone/>
            </a:pPr>
            <a:r>
              <a:rPr lang="en-US" sz="3000" b="1" dirty="0">
                <a:solidFill>
                  <a:srgbClr val="FCD34D"/>
                </a:solidFill>
                <a:latin typeface="Calibri" pitchFamily="34" charset="0"/>
                <a:ea typeface="Calibri" pitchFamily="34" charset="-122"/>
                <a:cs typeface="Calibri" pitchFamily="34" charset="-120"/>
              </a:rPr>
              <a:t>#1</a:t>
            </a:r>
            <a:endParaRPr lang="en-US" sz="3000" dirty="0"/>
          </a:p>
        </p:txBody>
      </p:sp>
      <p:sp>
        <p:nvSpPr>
          <p:cNvPr id="21" name="Text 19"/>
          <p:cNvSpPr/>
          <p:nvPr/>
        </p:nvSpPr>
        <p:spPr>
          <a:xfrm>
            <a:off x="1463040" y="3310128"/>
            <a:ext cx="2852928"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Sophos — Leader Gartner 2026</a:t>
            </a:r>
            <a:endParaRPr lang="en-US" sz="1300" dirty="0"/>
          </a:p>
        </p:txBody>
      </p:sp>
      <p:sp>
        <p:nvSpPr>
          <p:cNvPr id="22" name="Shape 20"/>
          <p:cNvSpPr/>
          <p:nvPr/>
        </p:nvSpPr>
        <p:spPr>
          <a:xfrm>
            <a:off x="1463040" y="3694176"/>
            <a:ext cx="2852928" cy="0"/>
          </a:xfrm>
          <a:prstGeom prst="line">
            <a:avLst/>
          </a:prstGeom>
          <a:noFill/>
          <a:ln w="6350">
            <a:solidFill>
              <a:srgbClr val="FCD34D">
                <a:alpha val="50000"/>
              </a:srgbClr>
            </a:solidFill>
            <a:prstDash val="solid"/>
          </a:ln>
        </p:spPr>
        <p:txBody>
          <a:bodyPr/>
          <a:lstStyle/>
          <a:p>
            <a:endParaRPr lang="fr-FR"/>
          </a:p>
        </p:txBody>
      </p:sp>
      <p:sp>
        <p:nvSpPr>
          <p:cNvPr id="23" name="Text 21"/>
          <p:cNvSpPr/>
          <p:nvPr/>
        </p:nvSpPr>
        <p:spPr>
          <a:xfrm>
            <a:off x="1463040" y="3767328"/>
            <a:ext cx="2852928" cy="749808"/>
          </a:xfrm>
          <a:prstGeom prst="rect">
            <a:avLst/>
          </a:prstGeom>
          <a:noFill/>
          <a:ln/>
        </p:spPr>
        <p:txBody>
          <a:bodyPr wrap="square" lIns="0" tIns="0" rIns="0" bIns="0" rtlCol="0" anchor="ctr"/>
          <a:lstStyle/>
          <a:p>
            <a:pPr marL="0" indent="0" algn="l">
              <a:buNone/>
            </a:pPr>
            <a:r>
              <a:rPr lang="en-US" sz="1050" dirty="0">
                <a:solidFill>
                  <a:srgbClr val="8EAABA"/>
                </a:solidFill>
                <a:latin typeface="Calibri" pitchFamily="34" charset="0"/>
                <a:ea typeface="Calibri" pitchFamily="34" charset="-122"/>
                <a:cs typeface="Calibri" pitchFamily="34" charset="-120"/>
              </a:rPr>
              <a:t>Sophos nommé Leader du Magic Quadrant endpoint. L'XDR est désormais un critère d'évaluation obligatoire pour tous les éditeurs.</a:t>
            </a:r>
            <a:endParaRPr lang="en-US" sz="1050" dirty="0"/>
          </a:p>
        </p:txBody>
      </p:sp>
      <p:sp>
        <p:nvSpPr>
          <p:cNvPr id="24" name="Text 22"/>
          <p:cNvSpPr/>
          <p:nvPr/>
        </p:nvSpPr>
        <p:spPr>
          <a:xfrm>
            <a:off x="1463040" y="4443984"/>
            <a:ext cx="2852928" cy="201168"/>
          </a:xfrm>
          <a:prstGeom prst="rect">
            <a:avLst/>
          </a:prstGeom>
          <a:noFill/>
          <a:ln/>
        </p:spPr>
        <p:txBody>
          <a:bodyPr wrap="square" lIns="0" tIns="0" rIns="0" bIns="0" rtlCol="0" anchor="ctr"/>
          <a:lstStyle/>
          <a:p>
            <a:pPr marL="0" indent="0" algn="l">
              <a:buNone/>
            </a:pPr>
            <a:r>
              <a:rPr lang="en-US" sz="900" i="1" dirty="0">
                <a:solidFill>
                  <a:srgbClr val="FCD34D"/>
                </a:solidFill>
                <a:latin typeface="Calibri" pitchFamily="34" charset="0"/>
                <a:ea typeface="Calibri" pitchFamily="34" charset="-122"/>
                <a:cs typeface="Calibri" pitchFamily="34" charset="-120"/>
              </a:rPr>
              <a:t>Generation-NT · juin 2026</a:t>
            </a:r>
            <a:endParaRPr lang="en-US" sz="900" dirty="0"/>
          </a:p>
        </p:txBody>
      </p:sp>
      <p:sp>
        <p:nvSpPr>
          <p:cNvPr id="25" name="Shape 23"/>
          <p:cNvSpPr/>
          <p:nvPr/>
        </p:nvSpPr>
        <p:spPr>
          <a:xfrm>
            <a:off x="4663440" y="3145536"/>
            <a:ext cx="4069080" cy="1664208"/>
          </a:xfrm>
          <a:prstGeom prst="roundRect">
            <a:avLst>
              <a:gd name="adj" fmla="val 3846"/>
            </a:avLst>
          </a:prstGeom>
          <a:solidFill>
            <a:srgbClr val="0D1B2A"/>
          </a:solidFill>
          <a:ln w="12700">
            <a:solidFill>
              <a:srgbClr val="1A3040"/>
            </a:solidFill>
            <a:prstDash val="solid"/>
          </a:ln>
          <a:effectLst>
            <a:outerShdw blurRad="101600" dist="38100" dir="2700000" algn="bl" rotWithShape="0">
              <a:srgbClr val="000000">
                <a:alpha val="22000"/>
              </a:srgbClr>
            </a:outerShdw>
          </a:effectLst>
        </p:spPr>
        <p:txBody>
          <a:bodyPr/>
          <a:lstStyle/>
          <a:p>
            <a:endParaRPr lang="fr-FR"/>
          </a:p>
        </p:txBody>
      </p:sp>
      <p:sp>
        <p:nvSpPr>
          <p:cNvPr id="26" name="Shape 24"/>
          <p:cNvSpPr/>
          <p:nvPr/>
        </p:nvSpPr>
        <p:spPr>
          <a:xfrm>
            <a:off x="4828032" y="3310128"/>
            <a:ext cx="749808" cy="1335024"/>
          </a:xfrm>
          <a:prstGeom prst="roundRect">
            <a:avLst>
              <a:gd name="adj" fmla="val 6098"/>
            </a:avLst>
          </a:prstGeom>
          <a:solidFill>
            <a:srgbClr val="04080F">
              <a:alpha val="60000"/>
            </a:srgbClr>
          </a:solidFill>
          <a:ln w="12700">
            <a:solidFill>
              <a:srgbClr val="04080F"/>
            </a:solidFill>
            <a:prstDash val="solid"/>
          </a:ln>
        </p:spPr>
        <p:txBody>
          <a:bodyPr/>
          <a:lstStyle/>
          <a:p>
            <a:endParaRPr lang="fr-FR"/>
          </a:p>
        </p:txBody>
      </p:sp>
      <p:sp>
        <p:nvSpPr>
          <p:cNvPr id="27" name="Text 25"/>
          <p:cNvSpPr/>
          <p:nvPr/>
        </p:nvSpPr>
        <p:spPr>
          <a:xfrm>
            <a:off x="4828032" y="3310128"/>
            <a:ext cx="749808" cy="1335024"/>
          </a:xfrm>
          <a:prstGeom prst="rect">
            <a:avLst/>
          </a:prstGeom>
          <a:noFill/>
          <a:ln/>
        </p:spPr>
        <p:txBody>
          <a:bodyPr wrap="square" lIns="0" tIns="0" rIns="0" bIns="0" rtlCol="0" anchor="ctr"/>
          <a:lstStyle/>
          <a:p>
            <a:pPr marL="0" indent="0" algn="ctr">
              <a:buNone/>
            </a:pPr>
            <a:r>
              <a:rPr lang="en-US" sz="3000" b="1" dirty="0">
                <a:solidFill>
                  <a:srgbClr val="F87171"/>
                </a:solidFill>
                <a:latin typeface="Calibri" pitchFamily="34" charset="0"/>
                <a:ea typeface="Calibri" pitchFamily="34" charset="-122"/>
                <a:cs typeface="Calibri" pitchFamily="34" charset="-120"/>
              </a:rPr>
              <a:t>!</a:t>
            </a:r>
            <a:endParaRPr lang="en-US" sz="3000" dirty="0"/>
          </a:p>
        </p:txBody>
      </p:sp>
      <p:sp>
        <p:nvSpPr>
          <p:cNvPr id="28" name="Text 26"/>
          <p:cNvSpPr/>
          <p:nvPr/>
        </p:nvSpPr>
        <p:spPr>
          <a:xfrm>
            <a:off x="5715000" y="3310128"/>
            <a:ext cx="2852928"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Tehtris — redressement judiciaire</a:t>
            </a:r>
            <a:endParaRPr lang="en-US" sz="1300" dirty="0"/>
          </a:p>
        </p:txBody>
      </p:sp>
      <p:sp>
        <p:nvSpPr>
          <p:cNvPr id="29" name="Shape 27"/>
          <p:cNvSpPr/>
          <p:nvPr/>
        </p:nvSpPr>
        <p:spPr>
          <a:xfrm>
            <a:off x="5715000" y="3694176"/>
            <a:ext cx="2852928" cy="0"/>
          </a:xfrm>
          <a:prstGeom prst="line">
            <a:avLst/>
          </a:prstGeom>
          <a:noFill/>
          <a:ln w="6350">
            <a:solidFill>
              <a:srgbClr val="F87171">
                <a:alpha val="50000"/>
              </a:srgbClr>
            </a:solidFill>
            <a:prstDash val="solid"/>
          </a:ln>
        </p:spPr>
        <p:txBody>
          <a:bodyPr/>
          <a:lstStyle/>
          <a:p>
            <a:endParaRPr lang="fr-FR"/>
          </a:p>
        </p:txBody>
      </p:sp>
      <p:sp>
        <p:nvSpPr>
          <p:cNvPr id="30" name="Text 28"/>
          <p:cNvSpPr/>
          <p:nvPr/>
        </p:nvSpPr>
        <p:spPr>
          <a:xfrm>
            <a:off x="5715000" y="3767328"/>
            <a:ext cx="2852928" cy="749808"/>
          </a:xfrm>
          <a:prstGeom prst="rect">
            <a:avLst/>
          </a:prstGeom>
          <a:noFill/>
          <a:ln/>
        </p:spPr>
        <p:txBody>
          <a:bodyPr wrap="square" lIns="0" tIns="0" rIns="0" bIns="0" rtlCol="0" anchor="ctr"/>
          <a:lstStyle/>
          <a:p>
            <a:pPr marL="0" indent="0" algn="l">
              <a:buNone/>
            </a:pPr>
            <a:r>
              <a:rPr lang="en-US" sz="1050" dirty="0">
                <a:solidFill>
                  <a:srgbClr val="8EAABA"/>
                </a:solidFill>
                <a:latin typeface="Calibri" pitchFamily="34" charset="0"/>
                <a:ea typeface="Calibri" pitchFamily="34" charset="-122"/>
                <a:cs typeface="Calibri" pitchFamily="34" charset="-120"/>
              </a:rPr>
              <a:t>L'éditeur XDR souverain français cherche un repreneur. Signal sur la fragilité des acteurs européens face aux géants US.</a:t>
            </a:r>
            <a:endParaRPr lang="en-US" sz="1050" dirty="0"/>
          </a:p>
        </p:txBody>
      </p:sp>
      <p:sp>
        <p:nvSpPr>
          <p:cNvPr id="31" name="Text 29"/>
          <p:cNvSpPr/>
          <p:nvPr/>
        </p:nvSpPr>
        <p:spPr>
          <a:xfrm>
            <a:off x="5715000" y="4443984"/>
            <a:ext cx="2852928" cy="201168"/>
          </a:xfrm>
          <a:prstGeom prst="rect">
            <a:avLst/>
          </a:prstGeom>
          <a:noFill/>
          <a:ln/>
        </p:spPr>
        <p:txBody>
          <a:bodyPr wrap="square" lIns="0" tIns="0" rIns="0" bIns="0" rtlCol="0" anchor="ctr"/>
          <a:lstStyle/>
          <a:p>
            <a:pPr marL="0" indent="0" algn="l">
              <a:buNone/>
            </a:pPr>
            <a:r>
              <a:rPr lang="en-US" sz="900" i="1" dirty="0">
                <a:solidFill>
                  <a:srgbClr val="F87171"/>
                </a:solidFill>
                <a:latin typeface="Calibri" pitchFamily="34" charset="0"/>
                <a:ea typeface="Calibri" pitchFamily="34" charset="-122"/>
                <a:cs typeface="Calibri" pitchFamily="34" charset="-120"/>
              </a:rPr>
              <a:t>Le Monde Informatique · mai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80F"/>
        </a:solidFill>
        <a:effectLst/>
      </p:bgPr>
    </p:bg>
    <p:spTree>
      <p:nvGrpSpPr>
        <p:cNvPr id="1" name=""/>
        <p:cNvGrpSpPr/>
        <p:nvPr/>
      </p:nvGrpSpPr>
      <p:grpSpPr>
        <a:xfrm>
          <a:off x="0" y="0"/>
          <a:ext cx="0" cy="0"/>
          <a:chOff x="0" y="0"/>
          <a:chExt cx="0" cy="0"/>
        </a:xfrm>
      </p:grpSpPr>
      <p:sp>
        <p:nvSpPr>
          <p:cNvPr id="2" name="Text 0"/>
          <p:cNvSpPr/>
          <p:nvPr/>
        </p:nvSpPr>
        <p:spPr>
          <a:xfrm>
            <a:off x="411480" y="256032"/>
            <a:ext cx="8321040" cy="237744"/>
          </a:xfrm>
          <a:prstGeom prst="rect">
            <a:avLst/>
          </a:prstGeom>
          <a:noFill/>
          <a:ln/>
        </p:spPr>
        <p:txBody>
          <a:bodyPr wrap="square" lIns="0" tIns="0" rIns="0" bIns="0" rtlCol="0" anchor="ctr"/>
          <a:lstStyle/>
          <a:p>
            <a:pPr marL="0" indent="0" algn="l">
              <a:buNone/>
            </a:pPr>
            <a:r>
              <a:rPr lang="en-US" sz="1000" kern="0" spc="400" dirty="0">
                <a:solidFill>
                  <a:srgbClr val="00B4D8"/>
                </a:solidFill>
                <a:latin typeface="Calibri" pitchFamily="34" charset="0"/>
                <a:ea typeface="Calibri" pitchFamily="34" charset="-122"/>
                <a:cs typeface="Calibri" pitchFamily="34" charset="-120"/>
              </a:rPr>
              <a:t>04 · IMPACT MÉTIER SLAM</a:t>
            </a:r>
            <a:endParaRPr lang="en-US" sz="1000" dirty="0"/>
          </a:p>
        </p:txBody>
      </p:sp>
      <p:sp>
        <p:nvSpPr>
          <p:cNvPr id="3" name="Text 1"/>
          <p:cNvSpPr/>
          <p:nvPr/>
        </p:nvSpPr>
        <p:spPr>
          <a:xfrm>
            <a:off x="411480" y="566928"/>
            <a:ext cx="832104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Impact sur mon métier</a:t>
            </a:r>
            <a:endParaRPr lang="en-US" sz="3000" dirty="0"/>
          </a:p>
        </p:txBody>
      </p:sp>
      <p:sp>
        <p:nvSpPr>
          <p:cNvPr id="4" name="Shape 2"/>
          <p:cNvSpPr/>
          <p:nvPr/>
        </p:nvSpPr>
        <p:spPr>
          <a:xfrm>
            <a:off x="3520440" y="2400300"/>
            <a:ext cx="2103120" cy="914400"/>
          </a:xfrm>
          <a:prstGeom prst="ellipse">
            <a:avLst/>
          </a:prstGeom>
          <a:solidFill>
            <a:srgbClr val="00B4D8"/>
          </a:solidFill>
          <a:ln w="12700">
            <a:solidFill>
              <a:srgbClr val="00B4D8"/>
            </a:solidFill>
            <a:prstDash val="solid"/>
          </a:ln>
        </p:spPr>
        <p:txBody>
          <a:bodyPr/>
          <a:lstStyle/>
          <a:p>
            <a:endParaRPr lang="fr-FR"/>
          </a:p>
        </p:txBody>
      </p:sp>
      <p:sp>
        <p:nvSpPr>
          <p:cNvPr id="5" name="Text 3"/>
          <p:cNvSpPr/>
          <p:nvPr/>
        </p:nvSpPr>
        <p:spPr>
          <a:xfrm>
            <a:off x="3520440" y="2400300"/>
            <a:ext cx="2103120" cy="914400"/>
          </a:xfrm>
          <a:prstGeom prst="rect">
            <a:avLst/>
          </a:prstGeom>
          <a:noFill/>
          <a:ln/>
        </p:spPr>
        <p:txBody>
          <a:bodyPr wrap="square" lIns="0" tIns="0" rIns="0" bIns="0" rtlCol="0" anchor="ctr"/>
          <a:lstStyle/>
          <a:p>
            <a:pPr marL="0" indent="0" algn="ctr">
              <a:buNone/>
            </a:pPr>
            <a:r>
              <a:rPr lang="en-US" sz="1500" b="1" dirty="0">
                <a:solidFill>
                  <a:srgbClr val="04080F"/>
                </a:solidFill>
                <a:latin typeface="Calibri" pitchFamily="34" charset="0"/>
                <a:ea typeface="Calibri" pitchFamily="34" charset="-122"/>
                <a:cs typeface="Calibri" pitchFamily="34" charset="-120"/>
              </a:rPr>
              <a:t>MON APP</a:t>
            </a:r>
            <a:endParaRPr lang="en-US" sz="1500" dirty="0"/>
          </a:p>
        </p:txBody>
      </p:sp>
      <p:sp>
        <p:nvSpPr>
          <p:cNvPr id="6" name="Shape 4"/>
          <p:cNvSpPr/>
          <p:nvPr/>
        </p:nvSpPr>
        <p:spPr>
          <a:xfrm>
            <a:off x="2743200" y="2171700"/>
            <a:ext cx="844194" cy="525266"/>
          </a:xfrm>
          <a:prstGeom prst="line">
            <a:avLst/>
          </a:prstGeom>
          <a:noFill/>
          <a:ln w="12700">
            <a:solidFill>
              <a:srgbClr val="00B4D8"/>
            </a:solidFill>
            <a:prstDash val="sysDot"/>
          </a:ln>
        </p:spPr>
        <p:txBody>
          <a:bodyPr/>
          <a:lstStyle/>
          <a:p>
            <a:endParaRPr lang="fr-FR"/>
          </a:p>
        </p:txBody>
      </p:sp>
      <p:sp>
        <p:nvSpPr>
          <p:cNvPr id="7" name="Shape 5"/>
          <p:cNvSpPr/>
          <p:nvPr/>
        </p:nvSpPr>
        <p:spPr>
          <a:xfrm>
            <a:off x="411480" y="1691640"/>
            <a:ext cx="2331720" cy="960120"/>
          </a:xfrm>
          <a:prstGeom prst="roundRect">
            <a:avLst>
              <a:gd name="adj" fmla="val 6667"/>
            </a:avLst>
          </a:prstGeom>
          <a:solidFill>
            <a:srgbClr val="0D1B2A"/>
          </a:solidFill>
          <a:ln w="12700">
            <a:solidFill>
              <a:srgbClr val="00B4D8"/>
            </a:solidFill>
            <a:prstDash val="solid"/>
          </a:ln>
          <a:effectLst>
            <a:outerShdw blurRad="101600" dist="38100" dir="2700000" algn="bl" rotWithShape="0">
              <a:srgbClr val="000000">
                <a:alpha val="22000"/>
              </a:srgbClr>
            </a:outerShdw>
          </a:effectLst>
        </p:spPr>
        <p:txBody>
          <a:bodyPr/>
          <a:lstStyle/>
          <a:p>
            <a:endParaRPr lang="fr-FR"/>
          </a:p>
        </p:txBody>
      </p:sp>
      <p:sp>
        <p:nvSpPr>
          <p:cNvPr id="8" name="Text 6"/>
          <p:cNvSpPr/>
          <p:nvPr/>
        </p:nvSpPr>
        <p:spPr>
          <a:xfrm>
            <a:off x="557784" y="1837944"/>
            <a:ext cx="2039112" cy="274320"/>
          </a:xfrm>
          <a:prstGeom prst="rect">
            <a:avLst/>
          </a:prstGeom>
          <a:noFill/>
          <a:ln/>
        </p:spPr>
        <p:txBody>
          <a:bodyPr wrap="square" lIns="0" tIns="0" rIns="0" bIns="0" rtlCol="0" anchor="ctr"/>
          <a:lstStyle/>
          <a:p>
            <a:pPr marL="0" indent="0" algn="l">
              <a:buNone/>
            </a:pPr>
            <a:r>
              <a:rPr lang="en-US" sz="1200" b="1" dirty="0">
                <a:solidFill>
                  <a:srgbClr val="00B4D8"/>
                </a:solidFill>
                <a:latin typeface="Calibri" pitchFamily="34" charset="0"/>
                <a:ea typeface="Calibri" pitchFamily="34" charset="-122"/>
                <a:cs typeface="Calibri" pitchFamily="34" charset="-120"/>
              </a:rPr>
              <a:t>Logs structurés</a:t>
            </a:r>
            <a:endParaRPr lang="en-US" sz="1200" dirty="0"/>
          </a:p>
        </p:txBody>
      </p:sp>
      <p:sp>
        <p:nvSpPr>
          <p:cNvPr id="9" name="Shape 7"/>
          <p:cNvSpPr/>
          <p:nvPr/>
        </p:nvSpPr>
        <p:spPr>
          <a:xfrm>
            <a:off x="557784" y="2139696"/>
            <a:ext cx="2039112" cy="0"/>
          </a:xfrm>
          <a:prstGeom prst="line">
            <a:avLst/>
          </a:prstGeom>
          <a:noFill/>
          <a:ln w="6350">
            <a:solidFill>
              <a:srgbClr val="00B4D8">
                <a:alpha val="45000"/>
              </a:srgbClr>
            </a:solidFill>
            <a:prstDash val="solid"/>
          </a:ln>
        </p:spPr>
        <p:txBody>
          <a:bodyPr/>
          <a:lstStyle/>
          <a:p>
            <a:endParaRPr lang="fr-FR"/>
          </a:p>
        </p:txBody>
      </p:sp>
      <p:sp>
        <p:nvSpPr>
          <p:cNvPr id="10" name="Text 8"/>
          <p:cNvSpPr/>
          <p:nvPr/>
        </p:nvSpPr>
        <p:spPr>
          <a:xfrm>
            <a:off x="557784" y="2203704"/>
            <a:ext cx="2039112" cy="448056"/>
          </a:xfrm>
          <a:prstGeom prst="rect">
            <a:avLst/>
          </a:prstGeom>
          <a:noFill/>
          <a:ln/>
        </p:spPr>
        <p:txBody>
          <a:bodyPr wrap="square" lIns="0" tIns="0" rIns="0" bIns="0" rtlCol="0" anchor="ctr"/>
          <a:lstStyle/>
          <a:p>
            <a:pPr marL="0" indent="0" algn="l">
              <a:buNone/>
            </a:pPr>
            <a:r>
              <a:rPr lang="en-US" sz="1050" dirty="0">
                <a:solidFill>
                  <a:srgbClr val="8EAABA"/>
                </a:solidFill>
                <a:latin typeface="Calibri" pitchFamily="34" charset="0"/>
                <a:ea typeface="Calibri" pitchFamily="34" charset="-122"/>
                <a:cs typeface="Calibri" pitchFamily="34" charset="-120"/>
              </a:rPr>
              <a:t>Mes logs en JSON, horodatés, exploitables par un XDR.</a:t>
            </a:r>
            <a:endParaRPr lang="en-US" sz="1050" dirty="0"/>
          </a:p>
        </p:txBody>
      </p:sp>
      <p:sp>
        <p:nvSpPr>
          <p:cNvPr id="11" name="Shape 9"/>
          <p:cNvSpPr/>
          <p:nvPr/>
        </p:nvSpPr>
        <p:spPr>
          <a:xfrm flipV="1">
            <a:off x="2743200" y="3074738"/>
            <a:ext cx="903527" cy="802318"/>
          </a:xfrm>
          <a:prstGeom prst="line">
            <a:avLst/>
          </a:prstGeom>
          <a:noFill/>
          <a:ln w="12700">
            <a:solidFill>
              <a:srgbClr val="00B4D8"/>
            </a:solidFill>
            <a:prstDash val="sysDot"/>
          </a:ln>
        </p:spPr>
        <p:txBody>
          <a:bodyPr/>
          <a:lstStyle/>
          <a:p>
            <a:endParaRPr lang="fr-FR"/>
          </a:p>
        </p:txBody>
      </p:sp>
      <p:sp>
        <p:nvSpPr>
          <p:cNvPr id="12" name="Shape 10"/>
          <p:cNvSpPr/>
          <p:nvPr/>
        </p:nvSpPr>
        <p:spPr>
          <a:xfrm>
            <a:off x="411480" y="3364992"/>
            <a:ext cx="2331720" cy="960120"/>
          </a:xfrm>
          <a:prstGeom prst="roundRect">
            <a:avLst>
              <a:gd name="adj" fmla="val 6667"/>
            </a:avLst>
          </a:prstGeom>
          <a:solidFill>
            <a:srgbClr val="0D1B2A"/>
          </a:solidFill>
          <a:ln w="12700">
            <a:solidFill>
              <a:srgbClr val="00B4D8"/>
            </a:solidFill>
            <a:prstDash val="solid"/>
          </a:ln>
          <a:effectLst>
            <a:outerShdw blurRad="101600" dist="38100" dir="2700000" algn="bl" rotWithShape="0">
              <a:srgbClr val="000000">
                <a:alpha val="22000"/>
              </a:srgbClr>
            </a:outerShdw>
          </a:effectLst>
        </p:spPr>
        <p:txBody>
          <a:bodyPr/>
          <a:lstStyle/>
          <a:p>
            <a:endParaRPr lang="fr-FR"/>
          </a:p>
        </p:txBody>
      </p:sp>
      <p:sp>
        <p:nvSpPr>
          <p:cNvPr id="13" name="Text 11"/>
          <p:cNvSpPr/>
          <p:nvPr/>
        </p:nvSpPr>
        <p:spPr>
          <a:xfrm>
            <a:off x="557784" y="3511296"/>
            <a:ext cx="2039112" cy="274320"/>
          </a:xfrm>
          <a:prstGeom prst="rect">
            <a:avLst/>
          </a:prstGeom>
          <a:noFill/>
          <a:ln/>
        </p:spPr>
        <p:txBody>
          <a:bodyPr wrap="square" lIns="0" tIns="0" rIns="0" bIns="0" rtlCol="0" anchor="ctr"/>
          <a:lstStyle/>
          <a:p>
            <a:pPr marL="0" indent="0" algn="l">
              <a:buNone/>
            </a:pPr>
            <a:r>
              <a:rPr lang="en-US" sz="1200" b="1" dirty="0">
                <a:solidFill>
                  <a:srgbClr val="00B4D8"/>
                </a:solidFill>
                <a:latin typeface="Calibri" pitchFamily="34" charset="0"/>
                <a:ea typeface="Calibri" pitchFamily="34" charset="-122"/>
                <a:cs typeface="Calibri" pitchFamily="34" charset="-120"/>
              </a:rPr>
              <a:t>OWASP</a:t>
            </a:r>
            <a:endParaRPr lang="en-US" sz="1200" dirty="0"/>
          </a:p>
        </p:txBody>
      </p:sp>
      <p:sp>
        <p:nvSpPr>
          <p:cNvPr id="14" name="Shape 12"/>
          <p:cNvSpPr/>
          <p:nvPr/>
        </p:nvSpPr>
        <p:spPr>
          <a:xfrm>
            <a:off x="557784" y="3813048"/>
            <a:ext cx="2039112" cy="0"/>
          </a:xfrm>
          <a:prstGeom prst="line">
            <a:avLst/>
          </a:prstGeom>
          <a:noFill/>
          <a:ln w="6350">
            <a:solidFill>
              <a:srgbClr val="00B4D8">
                <a:alpha val="45000"/>
              </a:srgbClr>
            </a:solidFill>
            <a:prstDash val="solid"/>
          </a:ln>
        </p:spPr>
        <p:txBody>
          <a:bodyPr/>
          <a:lstStyle/>
          <a:p>
            <a:endParaRPr lang="fr-FR"/>
          </a:p>
        </p:txBody>
      </p:sp>
      <p:sp>
        <p:nvSpPr>
          <p:cNvPr id="15" name="Text 13"/>
          <p:cNvSpPr/>
          <p:nvPr/>
        </p:nvSpPr>
        <p:spPr>
          <a:xfrm>
            <a:off x="557784" y="3877056"/>
            <a:ext cx="2039112" cy="448056"/>
          </a:xfrm>
          <a:prstGeom prst="rect">
            <a:avLst/>
          </a:prstGeom>
          <a:noFill/>
          <a:ln/>
        </p:spPr>
        <p:txBody>
          <a:bodyPr wrap="square" lIns="0" tIns="0" rIns="0" bIns="0" rtlCol="0" anchor="ctr"/>
          <a:lstStyle/>
          <a:p>
            <a:pPr marL="0" indent="0" algn="l">
              <a:buNone/>
            </a:pPr>
            <a:r>
              <a:rPr lang="en-US" sz="1050" dirty="0">
                <a:solidFill>
                  <a:srgbClr val="8EAABA"/>
                </a:solidFill>
                <a:latin typeface="Calibri" pitchFamily="34" charset="0"/>
                <a:ea typeface="Calibri" pitchFamily="34" charset="-122"/>
                <a:cs typeface="Calibri" pitchFamily="34" charset="-120"/>
              </a:rPr>
              <a:t>Bloquer les failles au code avant que l'XDR les détecte côté réseau.</a:t>
            </a:r>
            <a:endParaRPr lang="en-US" sz="1050" dirty="0"/>
          </a:p>
        </p:txBody>
      </p:sp>
      <p:sp>
        <p:nvSpPr>
          <p:cNvPr id="16" name="Shape 14"/>
          <p:cNvSpPr/>
          <p:nvPr/>
        </p:nvSpPr>
        <p:spPr>
          <a:xfrm flipV="1">
            <a:off x="5556606" y="2203704"/>
            <a:ext cx="844194" cy="493262"/>
          </a:xfrm>
          <a:prstGeom prst="line">
            <a:avLst/>
          </a:prstGeom>
          <a:noFill/>
          <a:ln w="12700">
            <a:solidFill>
              <a:srgbClr val="00B4D8"/>
            </a:solidFill>
            <a:prstDash val="sysDot"/>
          </a:ln>
        </p:spPr>
        <p:txBody>
          <a:bodyPr/>
          <a:lstStyle/>
          <a:p>
            <a:endParaRPr lang="fr-FR"/>
          </a:p>
        </p:txBody>
      </p:sp>
      <p:sp>
        <p:nvSpPr>
          <p:cNvPr id="17" name="Shape 15"/>
          <p:cNvSpPr/>
          <p:nvPr/>
        </p:nvSpPr>
        <p:spPr>
          <a:xfrm>
            <a:off x="6400800" y="1691640"/>
            <a:ext cx="2331720" cy="960120"/>
          </a:xfrm>
          <a:prstGeom prst="roundRect">
            <a:avLst>
              <a:gd name="adj" fmla="val 6667"/>
            </a:avLst>
          </a:prstGeom>
          <a:solidFill>
            <a:srgbClr val="0D1B2A"/>
          </a:solidFill>
          <a:ln w="12700">
            <a:solidFill>
              <a:srgbClr val="00B4D8"/>
            </a:solidFill>
            <a:prstDash val="solid"/>
          </a:ln>
          <a:effectLst>
            <a:outerShdw blurRad="101600" dist="38100" dir="2700000" algn="bl" rotWithShape="0">
              <a:srgbClr val="000000">
                <a:alpha val="22000"/>
              </a:srgbClr>
            </a:outerShdw>
          </a:effectLst>
        </p:spPr>
        <p:txBody>
          <a:bodyPr/>
          <a:lstStyle/>
          <a:p>
            <a:endParaRPr lang="fr-FR"/>
          </a:p>
        </p:txBody>
      </p:sp>
      <p:sp>
        <p:nvSpPr>
          <p:cNvPr id="18" name="Text 16"/>
          <p:cNvSpPr/>
          <p:nvPr/>
        </p:nvSpPr>
        <p:spPr>
          <a:xfrm>
            <a:off x="6547104" y="1837944"/>
            <a:ext cx="2039112" cy="274320"/>
          </a:xfrm>
          <a:prstGeom prst="rect">
            <a:avLst/>
          </a:prstGeom>
          <a:noFill/>
          <a:ln/>
        </p:spPr>
        <p:txBody>
          <a:bodyPr wrap="square" lIns="0" tIns="0" rIns="0" bIns="0" rtlCol="0" anchor="ctr"/>
          <a:lstStyle/>
          <a:p>
            <a:pPr marL="0" indent="0" algn="l">
              <a:buNone/>
            </a:pPr>
            <a:r>
              <a:rPr lang="en-US" sz="1200" b="1" dirty="0">
                <a:solidFill>
                  <a:srgbClr val="00B4D8"/>
                </a:solidFill>
                <a:latin typeface="Calibri" pitchFamily="34" charset="0"/>
                <a:ea typeface="Calibri" pitchFamily="34" charset="-122"/>
                <a:cs typeface="Calibri" pitchFamily="34" charset="-120"/>
              </a:rPr>
              <a:t>Hébergement EU</a:t>
            </a:r>
            <a:endParaRPr lang="en-US" sz="1200" dirty="0"/>
          </a:p>
        </p:txBody>
      </p:sp>
      <p:sp>
        <p:nvSpPr>
          <p:cNvPr id="19" name="Shape 17"/>
          <p:cNvSpPr/>
          <p:nvPr/>
        </p:nvSpPr>
        <p:spPr>
          <a:xfrm>
            <a:off x="6547104" y="2139696"/>
            <a:ext cx="2039112" cy="0"/>
          </a:xfrm>
          <a:prstGeom prst="line">
            <a:avLst/>
          </a:prstGeom>
          <a:noFill/>
          <a:ln w="6350">
            <a:solidFill>
              <a:srgbClr val="00B4D8">
                <a:alpha val="45000"/>
              </a:srgbClr>
            </a:solidFill>
            <a:prstDash val="solid"/>
          </a:ln>
        </p:spPr>
        <p:txBody>
          <a:bodyPr/>
          <a:lstStyle/>
          <a:p>
            <a:endParaRPr lang="fr-FR"/>
          </a:p>
        </p:txBody>
      </p:sp>
      <p:sp>
        <p:nvSpPr>
          <p:cNvPr id="20" name="Text 18"/>
          <p:cNvSpPr/>
          <p:nvPr/>
        </p:nvSpPr>
        <p:spPr>
          <a:xfrm>
            <a:off x="6547104" y="2203704"/>
            <a:ext cx="2039112" cy="448056"/>
          </a:xfrm>
          <a:prstGeom prst="rect">
            <a:avLst/>
          </a:prstGeom>
          <a:noFill/>
          <a:ln/>
        </p:spPr>
        <p:txBody>
          <a:bodyPr wrap="square" lIns="0" tIns="0" rIns="0" bIns="0" rtlCol="0" anchor="ctr"/>
          <a:lstStyle/>
          <a:p>
            <a:pPr marL="0" indent="0" algn="l">
              <a:buNone/>
            </a:pPr>
            <a:r>
              <a:rPr lang="en-US" sz="1050" dirty="0">
                <a:solidFill>
                  <a:srgbClr val="8EAABA"/>
                </a:solidFill>
                <a:latin typeface="Calibri" pitchFamily="34" charset="0"/>
                <a:ea typeface="Calibri" pitchFamily="34" charset="-122"/>
                <a:cs typeface="Calibri" pitchFamily="34" charset="-120"/>
              </a:rPr>
              <a:t>Télémétrie XDR = données sensibles. Hébergeur EU = conformité RGPD.</a:t>
            </a:r>
            <a:endParaRPr lang="en-US" sz="1050" dirty="0"/>
          </a:p>
        </p:txBody>
      </p:sp>
      <p:sp>
        <p:nvSpPr>
          <p:cNvPr id="21" name="Shape 19"/>
          <p:cNvSpPr/>
          <p:nvPr/>
        </p:nvSpPr>
        <p:spPr>
          <a:xfrm>
            <a:off x="5497273" y="3074738"/>
            <a:ext cx="903527" cy="770314"/>
          </a:xfrm>
          <a:prstGeom prst="line">
            <a:avLst/>
          </a:prstGeom>
          <a:noFill/>
          <a:ln w="12700">
            <a:solidFill>
              <a:srgbClr val="00B4D8"/>
            </a:solidFill>
            <a:prstDash val="sysDot"/>
          </a:ln>
        </p:spPr>
        <p:txBody>
          <a:bodyPr/>
          <a:lstStyle/>
          <a:p>
            <a:endParaRPr lang="fr-FR"/>
          </a:p>
        </p:txBody>
      </p:sp>
      <p:sp>
        <p:nvSpPr>
          <p:cNvPr id="22" name="Shape 20"/>
          <p:cNvSpPr/>
          <p:nvPr/>
        </p:nvSpPr>
        <p:spPr>
          <a:xfrm>
            <a:off x="6400800" y="3364992"/>
            <a:ext cx="2331720" cy="960120"/>
          </a:xfrm>
          <a:prstGeom prst="roundRect">
            <a:avLst>
              <a:gd name="adj" fmla="val 6667"/>
            </a:avLst>
          </a:prstGeom>
          <a:solidFill>
            <a:srgbClr val="0D1B2A"/>
          </a:solidFill>
          <a:ln w="12700">
            <a:solidFill>
              <a:srgbClr val="00B4D8"/>
            </a:solidFill>
            <a:prstDash val="solid"/>
          </a:ln>
          <a:effectLst>
            <a:outerShdw blurRad="101600" dist="38100" dir="2700000" algn="bl" rotWithShape="0">
              <a:srgbClr val="000000">
                <a:alpha val="22000"/>
              </a:srgbClr>
            </a:outerShdw>
          </a:effectLst>
        </p:spPr>
        <p:txBody>
          <a:bodyPr/>
          <a:lstStyle/>
          <a:p>
            <a:endParaRPr lang="fr-FR"/>
          </a:p>
        </p:txBody>
      </p:sp>
      <p:sp>
        <p:nvSpPr>
          <p:cNvPr id="23" name="Text 21"/>
          <p:cNvSpPr/>
          <p:nvPr/>
        </p:nvSpPr>
        <p:spPr>
          <a:xfrm>
            <a:off x="6547104" y="3511296"/>
            <a:ext cx="2039112" cy="274320"/>
          </a:xfrm>
          <a:prstGeom prst="rect">
            <a:avLst/>
          </a:prstGeom>
          <a:noFill/>
          <a:ln/>
        </p:spPr>
        <p:txBody>
          <a:bodyPr wrap="square" lIns="0" tIns="0" rIns="0" bIns="0" rtlCol="0" anchor="ctr"/>
          <a:lstStyle/>
          <a:p>
            <a:pPr marL="0" indent="0" algn="l">
              <a:buNone/>
            </a:pPr>
            <a:r>
              <a:rPr lang="en-US" sz="1200" b="1" dirty="0">
                <a:solidFill>
                  <a:srgbClr val="00B4D8"/>
                </a:solidFill>
                <a:latin typeface="Calibri" pitchFamily="34" charset="0"/>
                <a:ea typeface="Calibri" pitchFamily="34" charset="-122"/>
                <a:cs typeface="Calibri" pitchFamily="34" charset="-120"/>
              </a:rPr>
              <a:t>APIs REST</a:t>
            </a:r>
            <a:endParaRPr lang="en-US" sz="1200" dirty="0"/>
          </a:p>
        </p:txBody>
      </p:sp>
      <p:sp>
        <p:nvSpPr>
          <p:cNvPr id="24" name="Shape 22"/>
          <p:cNvSpPr/>
          <p:nvPr/>
        </p:nvSpPr>
        <p:spPr>
          <a:xfrm>
            <a:off x="6547104" y="3813048"/>
            <a:ext cx="2039112" cy="0"/>
          </a:xfrm>
          <a:prstGeom prst="line">
            <a:avLst/>
          </a:prstGeom>
          <a:noFill/>
          <a:ln w="6350">
            <a:solidFill>
              <a:srgbClr val="00B4D8">
                <a:alpha val="45000"/>
              </a:srgbClr>
            </a:solidFill>
            <a:prstDash val="solid"/>
          </a:ln>
        </p:spPr>
        <p:txBody>
          <a:bodyPr/>
          <a:lstStyle/>
          <a:p>
            <a:endParaRPr lang="fr-FR"/>
          </a:p>
        </p:txBody>
      </p:sp>
      <p:sp>
        <p:nvSpPr>
          <p:cNvPr id="25" name="Text 23"/>
          <p:cNvSpPr/>
          <p:nvPr/>
        </p:nvSpPr>
        <p:spPr>
          <a:xfrm>
            <a:off x="6547104" y="3877056"/>
            <a:ext cx="2039112" cy="448056"/>
          </a:xfrm>
          <a:prstGeom prst="rect">
            <a:avLst/>
          </a:prstGeom>
          <a:noFill/>
          <a:ln/>
        </p:spPr>
        <p:txBody>
          <a:bodyPr wrap="square" lIns="0" tIns="0" rIns="0" bIns="0" rtlCol="0" anchor="ctr"/>
          <a:lstStyle/>
          <a:p>
            <a:pPr marL="0" indent="0" algn="l">
              <a:buNone/>
            </a:pPr>
            <a:r>
              <a:rPr lang="en-US" sz="1050" dirty="0">
                <a:solidFill>
                  <a:srgbClr val="8EAABA"/>
                </a:solidFill>
                <a:latin typeface="Calibri" pitchFamily="34" charset="0"/>
                <a:ea typeface="Calibri" pitchFamily="34" charset="-122"/>
                <a:cs typeface="Calibri" pitchFamily="34" charset="-120"/>
              </a:rPr>
              <a:t>Construire des connecteurs vers les APIs XDR pour intégrer la sécurité.</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80F"/>
        </a:solidFill>
        <a:effectLst/>
      </p:bgPr>
    </p:bg>
    <p:spTree>
      <p:nvGrpSpPr>
        <p:cNvPr id="1" name=""/>
        <p:cNvGrpSpPr/>
        <p:nvPr/>
      </p:nvGrpSpPr>
      <p:grpSpPr>
        <a:xfrm>
          <a:off x="0" y="0"/>
          <a:ext cx="0" cy="0"/>
          <a:chOff x="0" y="0"/>
          <a:chExt cx="0" cy="0"/>
        </a:xfrm>
      </p:grpSpPr>
      <p:sp>
        <p:nvSpPr>
          <p:cNvPr id="2" name="Shape 0"/>
          <p:cNvSpPr/>
          <p:nvPr/>
        </p:nvSpPr>
        <p:spPr>
          <a:xfrm>
            <a:off x="411480" y="777240"/>
            <a:ext cx="45720" cy="1554480"/>
          </a:xfrm>
          <a:prstGeom prst="rect">
            <a:avLst/>
          </a:prstGeom>
          <a:solidFill>
            <a:srgbClr val="00B4D8"/>
          </a:solidFill>
          <a:ln w="12700">
            <a:solidFill>
              <a:srgbClr val="00B4D8"/>
            </a:solidFill>
            <a:prstDash val="solid"/>
          </a:ln>
        </p:spPr>
        <p:txBody>
          <a:bodyPr/>
          <a:lstStyle/>
          <a:p>
            <a:endParaRPr lang="fr-FR"/>
          </a:p>
        </p:txBody>
      </p:sp>
      <p:sp>
        <p:nvSpPr>
          <p:cNvPr id="3" name="Text 1"/>
          <p:cNvSpPr/>
          <p:nvPr/>
        </p:nvSpPr>
        <p:spPr>
          <a:xfrm>
            <a:off x="594360" y="749808"/>
            <a:ext cx="8229600" cy="77724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L'XDR s'impose.</a:t>
            </a:r>
            <a:endParaRPr lang="en-US" sz="4200" dirty="0"/>
          </a:p>
        </p:txBody>
      </p:sp>
      <p:sp>
        <p:nvSpPr>
          <p:cNvPr id="4" name="Text 2"/>
          <p:cNvSpPr/>
          <p:nvPr/>
        </p:nvSpPr>
        <p:spPr>
          <a:xfrm>
            <a:off x="594360" y="1572768"/>
            <a:ext cx="8229600" cy="502920"/>
          </a:xfrm>
          <a:prstGeom prst="rect">
            <a:avLst/>
          </a:prstGeom>
          <a:noFill/>
          <a:ln/>
        </p:spPr>
        <p:txBody>
          <a:bodyPr wrap="square" lIns="0" tIns="0" rIns="0" bIns="0" rtlCol="0" anchor="ctr"/>
          <a:lstStyle/>
          <a:p>
            <a:pPr marL="0" indent="0" algn="l">
              <a:buNone/>
            </a:pPr>
            <a:r>
              <a:rPr lang="en-US" sz="2100" dirty="0">
                <a:solidFill>
                  <a:srgbClr val="00B4D8"/>
                </a:solidFill>
                <a:latin typeface="Calibri" pitchFamily="34" charset="0"/>
                <a:ea typeface="Calibri" pitchFamily="34" charset="-122"/>
                <a:cs typeface="Calibri" pitchFamily="34" charset="-120"/>
              </a:rPr>
              <a:t>Bien coder, c'est déjà y contribuer.</a:t>
            </a:r>
            <a:endParaRPr lang="en-US" sz="2100" dirty="0"/>
          </a:p>
        </p:txBody>
      </p:sp>
      <p:sp>
        <p:nvSpPr>
          <p:cNvPr id="5" name="Shape 3"/>
          <p:cNvSpPr/>
          <p:nvPr/>
        </p:nvSpPr>
        <p:spPr>
          <a:xfrm>
            <a:off x="411480" y="2496312"/>
            <a:ext cx="274320" cy="274320"/>
          </a:xfrm>
          <a:prstGeom prst="ellipse">
            <a:avLst/>
          </a:prstGeom>
          <a:solidFill>
            <a:srgbClr val="00B4D8"/>
          </a:solidFill>
          <a:ln w="12700">
            <a:solidFill>
              <a:srgbClr val="00B4D8"/>
            </a:solidFill>
            <a:prstDash val="solid"/>
          </a:ln>
        </p:spPr>
        <p:txBody>
          <a:bodyPr/>
          <a:lstStyle/>
          <a:p>
            <a:endParaRPr lang="fr-FR"/>
          </a:p>
        </p:txBody>
      </p:sp>
      <p:sp>
        <p:nvSpPr>
          <p:cNvPr id="6" name="Text 4"/>
          <p:cNvSpPr/>
          <p:nvPr/>
        </p:nvSpPr>
        <p:spPr>
          <a:xfrm>
            <a:off x="411480" y="2496312"/>
            <a:ext cx="274320" cy="274320"/>
          </a:xfrm>
          <a:prstGeom prst="rect">
            <a:avLst/>
          </a:prstGeom>
          <a:noFill/>
          <a:ln/>
        </p:spPr>
        <p:txBody>
          <a:bodyPr wrap="square" lIns="0" tIns="0" rIns="0" bIns="0" rtlCol="0" anchor="ctr"/>
          <a:lstStyle/>
          <a:p>
            <a:pPr marL="0" indent="0" algn="ctr">
              <a:buNone/>
            </a:pPr>
            <a:r>
              <a:rPr lang="en-US" sz="1200" b="1" dirty="0">
                <a:solidFill>
                  <a:srgbClr val="04080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822960" y="2377440"/>
            <a:ext cx="7909560" cy="658368"/>
          </a:xfrm>
          <a:prstGeom prst="rect">
            <a:avLst/>
          </a:prstGeom>
          <a:noFill/>
          <a:ln/>
        </p:spPr>
        <p:txBody>
          <a:bodyPr wrap="square" lIns="0" tIns="0" rIns="0" bIns="0" rtlCol="0" anchor="ctr"/>
          <a:lstStyle/>
          <a:p>
            <a:pPr marL="0" indent="0" algn="l">
              <a:buNone/>
            </a:pPr>
            <a:r>
              <a:rPr lang="en-US" sz="1300" dirty="0">
                <a:solidFill>
                  <a:srgbClr val="8EAABA"/>
                </a:solidFill>
                <a:latin typeface="Calibri" pitchFamily="34" charset="0"/>
                <a:ea typeface="Calibri" pitchFamily="34" charset="-122"/>
                <a:cs typeface="Calibri" pitchFamily="34" charset="-120"/>
              </a:rPr>
              <a:t>La détection unifiée (EDR → XDR → MDR) est le nouveau standard, même pour les PME.</a:t>
            </a:r>
            <a:endParaRPr lang="en-US" sz="1300" dirty="0"/>
          </a:p>
        </p:txBody>
      </p:sp>
      <p:sp>
        <p:nvSpPr>
          <p:cNvPr id="8" name="Shape 6"/>
          <p:cNvSpPr/>
          <p:nvPr/>
        </p:nvSpPr>
        <p:spPr>
          <a:xfrm>
            <a:off x="411480" y="3154680"/>
            <a:ext cx="274320" cy="274320"/>
          </a:xfrm>
          <a:prstGeom prst="ellipse">
            <a:avLst/>
          </a:prstGeom>
          <a:solidFill>
            <a:srgbClr val="00B4D8"/>
          </a:solidFill>
          <a:ln w="12700">
            <a:solidFill>
              <a:srgbClr val="00B4D8"/>
            </a:solidFill>
            <a:prstDash val="solid"/>
          </a:ln>
        </p:spPr>
        <p:txBody>
          <a:bodyPr/>
          <a:lstStyle/>
          <a:p>
            <a:endParaRPr lang="fr-FR"/>
          </a:p>
        </p:txBody>
      </p:sp>
      <p:sp>
        <p:nvSpPr>
          <p:cNvPr id="9" name="Text 7"/>
          <p:cNvSpPr/>
          <p:nvPr/>
        </p:nvSpPr>
        <p:spPr>
          <a:xfrm>
            <a:off x="411480" y="3154680"/>
            <a:ext cx="274320" cy="274320"/>
          </a:xfrm>
          <a:prstGeom prst="rect">
            <a:avLst/>
          </a:prstGeom>
          <a:noFill/>
          <a:ln/>
        </p:spPr>
        <p:txBody>
          <a:bodyPr wrap="square" lIns="0" tIns="0" rIns="0" bIns="0" rtlCol="0" anchor="ctr"/>
          <a:lstStyle/>
          <a:p>
            <a:pPr marL="0" indent="0" algn="ctr">
              <a:buNone/>
            </a:pPr>
            <a:r>
              <a:rPr lang="en-US" sz="1200" b="1" dirty="0">
                <a:solidFill>
                  <a:srgbClr val="04080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822960" y="3035808"/>
            <a:ext cx="7909560" cy="658368"/>
          </a:xfrm>
          <a:prstGeom prst="rect">
            <a:avLst/>
          </a:prstGeom>
          <a:noFill/>
          <a:ln/>
        </p:spPr>
        <p:txBody>
          <a:bodyPr wrap="square" lIns="0" tIns="0" rIns="0" bIns="0" rtlCol="0" anchor="ctr"/>
          <a:lstStyle/>
          <a:p>
            <a:pPr marL="0" indent="0" algn="l">
              <a:buNone/>
            </a:pPr>
            <a:r>
              <a:rPr lang="en-US" sz="1300" dirty="0">
                <a:solidFill>
                  <a:srgbClr val="8EAABA"/>
                </a:solidFill>
                <a:latin typeface="Calibri" pitchFamily="34" charset="0"/>
                <a:ea typeface="Calibri" pitchFamily="34" charset="-122"/>
                <a:cs typeface="Calibri" pitchFamily="34" charset="-120"/>
              </a:rPr>
              <a:t>Le marché se consolide autour de CrowdStrike, Sophos, Palo Alto — au détriment des acteurs souverains (cf. Tehtris).</a:t>
            </a:r>
            <a:endParaRPr lang="en-US" sz="1300" dirty="0"/>
          </a:p>
        </p:txBody>
      </p:sp>
      <p:sp>
        <p:nvSpPr>
          <p:cNvPr id="11" name="Shape 9"/>
          <p:cNvSpPr/>
          <p:nvPr/>
        </p:nvSpPr>
        <p:spPr>
          <a:xfrm>
            <a:off x="411480" y="3813048"/>
            <a:ext cx="274320" cy="274320"/>
          </a:xfrm>
          <a:prstGeom prst="ellipse">
            <a:avLst/>
          </a:prstGeom>
          <a:solidFill>
            <a:srgbClr val="00B4D8"/>
          </a:solidFill>
          <a:ln w="12700">
            <a:solidFill>
              <a:srgbClr val="00B4D8"/>
            </a:solidFill>
            <a:prstDash val="solid"/>
          </a:ln>
        </p:spPr>
        <p:txBody>
          <a:bodyPr/>
          <a:lstStyle/>
          <a:p>
            <a:endParaRPr lang="fr-FR"/>
          </a:p>
        </p:txBody>
      </p:sp>
      <p:sp>
        <p:nvSpPr>
          <p:cNvPr id="12" name="Text 10"/>
          <p:cNvSpPr/>
          <p:nvPr/>
        </p:nvSpPr>
        <p:spPr>
          <a:xfrm>
            <a:off x="411480" y="3813048"/>
            <a:ext cx="274320" cy="274320"/>
          </a:xfrm>
          <a:prstGeom prst="rect">
            <a:avLst/>
          </a:prstGeom>
          <a:noFill/>
          <a:ln/>
        </p:spPr>
        <p:txBody>
          <a:bodyPr wrap="square" lIns="0" tIns="0" rIns="0" bIns="0" rtlCol="0" anchor="ctr"/>
          <a:lstStyle/>
          <a:p>
            <a:pPr marL="0" indent="0" algn="ctr">
              <a:buNone/>
            </a:pPr>
            <a:r>
              <a:rPr lang="en-US" sz="1200" b="1" dirty="0">
                <a:solidFill>
                  <a:srgbClr val="04080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822960" y="3694176"/>
            <a:ext cx="7909560" cy="658368"/>
          </a:xfrm>
          <a:prstGeom prst="rect">
            <a:avLst/>
          </a:prstGeom>
          <a:noFill/>
          <a:ln/>
        </p:spPr>
        <p:txBody>
          <a:bodyPr wrap="square" lIns="0" tIns="0" rIns="0" bIns="0" rtlCol="0" anchor="ctr"/>
          <a:lstStyle/>
          <a:p>
            <a:pPr marL="0" indent="0" algn="l">
              <a:buNone/>
            </a:pPr>
            <a:r>
              <a:rPr lang="en-US" sz="1300" dirty="0">
                <a:solidFill>
                  <a:srgbClr val="8EAABA"/>
                </a:solidFill>
                <a:latin typeface="Calibri" pitchFamily="34" charset="0"/>
                <a:ea typeface="Calibri" pitchFamily="34" charset="-122"/>
                <a:cs typeface="Calibri" pitchFamily="34" charset="-120"/>
              </a:rPr>
              <a:t>Pour un développeur SLAM : logs structurés, OWASP, hébergement EU et APIs de sécurité dès la conception.</a:t>
            </a:r>
            <a:endParaRPr lang="en-US" sz="1300" dirty="0"/>
          </a:p>
        </p:txBody>
      </p:sp>
      <p:sp>
        <p:nvSpPr>
          <p:cNvPr id="14" name="Shape 12"/>
          <p:cNvSpPr/>
          <p:nvPr/>
        </p:nvSpPr>
        <p:spPr>
          <a:xfrm>
            <a:off x="411480" y="4754880"/>
            <a:ext cx="8321040" cy="0"/>
          </a:xfrm>
          <a:prstGeom prst="line">
            <a:avLst/>
          </a:prstGeom>
          <a:noFill/>
          <a:ln w="12700">
            <a:solidFill>
              <a:srgbClr val="1A3040"/>
            </a:solidFill>
            <a:prstDash val="solid"/>
          </a:ln>
        </p:spPr>
        <p:txBody>
          <a:bodyPr/>
          <a:lstStyle/>
          <a:p>
            <a:endParaRPr lang="fr-FR"/>
          </a:p>
        </p:txBody>
      </p:sp>
      <p:sp>
        <p:nvSpPr>
          <p:cNvPr id="15" name="Text 13"/>
          <p:cNvSpPr/>
          <p:nvPr/>
        </p:nvSpPr>
        <p:spPr>
          <a:xfrm>
            <a:off x="411480" y="4818888"/>
            <a:ext cx="8321040" cy="237744"/>
          </a:xfrm>
          <a:prstGeom prst="rect">
            <a:avLst/>
          </a:prstGeom>
          <a:noFill/>
          <a:ln/>
        </p:spPr>
        <p:txBody>
          <a:bodyPr wrap="square" lIns="0" tIns="0" rIns="0" bIns="0" rtlCol="0" anchor="ctr"/>
          <a:lstStyle/>
          <a:p>
            <a:pPr marL="0" indent="0" algn="ctr">
              <a:buNone/>
            </a:pPr>
            <a:r>
              <a:rPr lang="en-US" sz="900" dirty="0">
                <a:solidFill>
                  <a:srgbClr val="8EAABA"/>
                </a:solidFill>
                <a:latin typeface="Calibri" pitchFamily="34" charset="0"/>
                <a:ea typeface="Calibri" pitchFamily="34" charset="-122"/>
                <a:cs typeface="Calibri" pitchFamily="34" charset="-120"/>
              </a:rPr>
              <a:t>Ilyès Tizaoui · BTS SIO SLAM · H3 Hitema Paris · Épreuve E5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782</Words>
  <Application>Microsoft Office PowerPoint</Application>
  <PresentationFormat>On-screen Show (16:9)</PresentationFormat>
  <Paragraphs>91</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Veille XDR – BTS SIO SLAM</dc:title>
  <dc:subject>PptxGenJS Presentation</dc:subject>
  <dc:creator>Ilyès Tizaoui</dc:creator>
  <cp:lastModifiedBy>Ilyès Tizaoui</cp:lastModifiedBy>
  <cp:revision>2</cp:revision>
  <dcterms:created xsi:type="dcterms:W3CDTF">2026-06-12T11:44:58Z</dcterms:created>
  <dcterms:modified xsi:type="dcterms:W3CDTF">2026-06-12T11:50:54Z</dcterms:modified>
</cp:coreProperties>
</file>